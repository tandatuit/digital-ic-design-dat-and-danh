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57" r:id="rId3"/>
    <p:sldId id="258" r:id="rId4"/>
    <p:sldId id="310" r:id="rId5"/>
    <p:sldId id="273" r:id="rId6"/>
    <p:sldId id="259" r:id="rId7"/>
    <p:sldId id="260" r:id="rId8"/>
    <p:sldId id="314" r:id="rId9"/>
    <p:sldId id="274" r:id="rId10"/>
    <p:sldId id="261" r:id="rId11"/>
    <p:sldId id="311" r:id="rId12"/>
    <p:sldId id="312" r:id="rId13"/>
    <p:sldId id="262" r:id="rId14"/>
    <p:sldId id="276" r:id="rId15"/>
    <p:sldId id="264" r:id="rId16"/>
    <p:sldId id="265" r:id="rId17"/>
    <p:sldId id="275" r:id="rId18"/>
    <p:sldId id="266" r:id="rId19"/>
    <p:sldId id="277" r:id="rId20"/>
    <p:sldId id="278" r:id="rId21"/>
    <p:sldId id="279" r:id="rId22"/>
    <p:sldId id="280" r:id="rId23"/>
    <p:sldId id="295" r:id="rId24"/>
    <p:sldId id="271" r:id="rId25"/>
    <p:sldId id="272" r:id="rId26"/>
    <p:sldId id="313" r:id="rId27"/>
    <p:sldId id="315" r:id="rId28"/>
    <p:sldId id="296" r:id="rId29"/>
    <p:sldId id="302" r:id="rId30"/>
    <p:sldId id="297" r:id="rId31"/>
    <p:sldId id="284" r:id="rId32"/>
    <p:sldId id="298" r:id="rId33"/>
    <p:sldId id="286" r:id="rId34"/>
    <p:sldId id="287" r:id="rId35"/>
    <p:sldId id="299" r:id="rId36"/>
    <p:sldId id="288" r:id="rId37"/>
    <p:sldId id="289" r:id="rId38"/>
    <p:sldId id="300" r:id="rId39"/>
    <p:sldId id="303" r:id="rId40"/>
    <p:sldId id="290" r:id="rId41"/>
    <p:sldId id="291" r:id="rId42"/>
    <p:sldId id="304" r:id="rId43"/>
    <p:sldId id="305" r:id="rId44"/>
    <p:sldId id="292" r:id="rId45"/>
    <p:sldId id="293" r:id="rId46"/>
    <p:sldId id="306" r:id="rId47"/>
    <p:sldId id="294" r:id="rId48"/>
    <p:sldId id="309" r:id="rId49"/>
  </p:sldIdLst>
  <p:sldSz cx="9144000" cy="6858000" type="screen4x3"/>
  <p:notesSz cx="9232900" cy="6934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84">
          <p15:clr>
            <a:srgbClr val="A4A3A4"/>
          </p15:clr>
        </p15:guide>
        <p15:guide id="2" pos="29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0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22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581" y="-58"/>
      </p:cViewPr>
      <p:guideLst>
        <p:guide orient="horz" pos="2184"/>
        <p:guide pos="29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BEC150E-2FD3-41EA-A76E-88DEE737CD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t" anchorCtr="0" compatLnSpc="1">
            <a:prstTxWarp prst="textNoShape">
              <a:avLst/>
            </a:prstTxWarp>
          </a:bodyPr>
          <a:lstStyle>
            <a:lvl1pPr defTabSz="92092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3C67C90-6A2D-7EB6-175B-6E146B136F7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0813" y="0"/>
            <a:ext cx="4002087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t" anchorCtr="0" compatLnSpc="1">
            <a:prstTxWarp prst="textNoShape">
              <a:avLst/>
            </a:prstTxWarp>
          </a:bodyPr>
          <a:lstStyle>
            <a:lvl1pPr algn="r" defTabSz="92092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2E77D27-D44F-3705-42D2-C144041F10E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86538"/>
            <a:ext cx="400208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b" anchorCtr="0" compatLnSpc="1">
            <a:prstTxWarp prst="textNoShape">
              <a:avLst/>
            </a:prstTxWarp>
          </a:bodyPr>
          <a:lstStyle>
            <a:lvl1pPr defTabSz="92092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88AE6B03-0BF3-A702-4D95-9E0702512C4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0813" y="6586538"/>
            <a:ext cx="4002087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defRPr sz="1200" smtClean="0"/>
            </a:lvl1pPr>
          </a:lstStyle>
          <a:p>
            <a:pPr>
              <a:defRPr/>
            </a:pPr>
            <a:fld id="{0B5996B1-1C9A-46B9-A002-92469B339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67453F5-583D-A17C-58B0-BAA2DEEAEA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t" anchorCtr="0" compatLnSpc="1">
            <a:prstTxWarp prst="textNoShape">
              <a:avLst/>
            </a:prstTxWarp>
          </a:bodyPr>
          <a:lstStyle>
            <a:lvl1pPr defTabSz="92092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4DAFD-8CBC-1C8B-D9D4-7D0D19888B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30813" y="0"/>
            <a:ext cx="4002087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t" anchorCtr="0" compatLnSpc="1">
            <a:prstTxWarp prst="textNoShape">
              <a:avLst/>
            </a:prstTxWarp>
          </a:bodyPr>
          <a:lstStyle>
            <a:lvl1pPr algn="r" defTabSz="92092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3A98DBF-EA78-4623-BF92-BE17C90F90E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84488" y="520700"/>
            <a:ext cx="3465512" cy="25987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635AAE9-A7C4-D4B8-777A-29186CB60C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1900" y="3292475"/>
            <a:ext cx="6769100" cy="312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0307B21-3D50-5FED-53A1-3D89375926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86538"/>
            <a:ext cx="400208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b" anchorCtr="0" compatLnSpc="1">
            <a:prstTxWarp prst="textNoShape">
              <a:avLst/>
            </a:prstTxWarp>
          </a:bodyPr>
          <a:lstStyle>
            <a:lvl1pPr defTabSz="92092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C79961A-BCD8-055D-738D-2B05735013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0813" y="6586538"/>
            <a:ext cx="4002087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3" tIns="46067" rIns="92133" bIns="46067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defRPr sz="1200" smtClean="0"/>
            </a:lvl1pPr>
          </a:lstStyle>
          <a:p>
            <a:pPr>
              <a:defRPr/>
            </a:pPr>
            <a:fld id="{D5878062-26F9-47C0-BAB8-8419EB268D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A1C1A8D-1812-C9C3-04DB-4EDC57975D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3F500B0-B3BB-43C2-B122-AFB501A6FA7E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53BA31F-ABD3-85E4-21AF-69BCF6EB0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C3FB421-6A91-7D89-7218-815A4CB9D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1AA7108-E3CC-98B7-809F-17A69CB48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AF23DA-725F-4D76-8816-CD60008F0BAA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4F8FF13-6AD8-8D3D-6D3F-474A3F40A7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92F25DF-0EC2-09C1-A9B7-BBA90CE50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382B6E9C-8DB3-03D4-9F79-244D45590E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814C5A-5465-419E-9891-8EAD95A24209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D07A39B-9CEB-E4F8-5B1E-D4554FF11E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7D1CD81-41ED-42DE-0F88-5868E3D53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44BBA522-6D1D-B17A-0810-9220EE482C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4A3547-7AF8-4F04-87EC-EFD1CC2D408F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B78EA69-B9B9-A34A-BFF5-5FDD8FDA7D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3B7EB7BC-6425-3F71-E40C-2DCF166C6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EAA2B755-5FCF-E1B7-3B56-5F087186C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06BF4C4-8FF9-4175-9792-AAD4E8ED6268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10E90D8-A509-2F56-7282-7F12E50E81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06B558A-B7A1-4094-0B1E-A75F3CA24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E9220416-ADE0-4FC4-6761-C9A1FADEA8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41BA8F-1DAA-4B6D-9BE9-2770CCDA6857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886C3E1-A637-4AFB-3338-528769E37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0B2FE57-E4DE-979C-89B8-FE8B57779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err="1"/>
              <a:t>Bóng</a:t>
            </a:r>
            <a:r>
              <a:rPr lang="en-GB" altLang="en-US" dirty="0"/>
              <a:t> </a:t>
            </a:r>
            <a:r>
              <a:rPr lang="en-GB" altLang="en-US" dirty="0" err="1"/>
              <a:t>chân</a:t>
            </a:r>
            <a:r>
              <a:rPr lang="en-GB" altLang="en-US" dirty="0"/>
              <a:t> </a:t>
            </a:r>
            <a:r>
              <a:rPr lang="en-GB" altLang="en-US" dirty="0" err="1"/>
              <a:t>không</a:t>
            </a:r>
            <a:r>
              <a:rPr lang="en-GB" altLang="en-US" dirty="0"/>
              <a:t> </a:t>
            </a:r>
            <a:r>
              <a:rPr lang="en-GB" altLang="en-US" dirty="0" err="1"/>
              <a:t>phổ</a:t>
            </a:r>
            <a:r>
              <a:rPr lang="en-GB" altLang="en-US" dirty="0"/>
              <a:t> </a:t>
            </a:r>
            <a:r>
              <a:rPr lang="en-GB" altLang="en-US" dirty="0" err="1"/>
              <a:t>biến</a:t>
            </a:r>
            <a:r>
              <a:rPr lang="en-GB" altLang="en-US" dirty="0"/>
              <a:t> ở </a:t>
            </a:r>
            <a:r>
              <a:rPr lang="en-GB" altLang="en-US" dirty="0" err="1"/>
              <a:t>nữa</a:t>
            </a:r>
            <a:r>
              <a:rPr lang="en-GB" altLang="en-US" dirty="0"/>
              <a:t> </a:t>
            </a:r>
            <a:r>
              <a:rPr lang="en-GB" altLang="en-US" dirty="0" err="1"/>
              <a:t>đầu</a:t>
            </a:r>
            <a:r>
              <a:rPr lang="en-GB" altLang="en-US" dirty="0"/>
              <a:t> </a:t>
            </a:r>
            <a:r>
              <a:rPr lang="en-GB" altLang="en-US" dirty="0" err="1"/>
              <a:t>thế</a:t>
            </a:r>
            <a:r>
              <a:rPr lang="en-GB" altLang="en-US" dirty="0"/>
              <a:t> </a:t>
            </a:r>
            <a:r>
              <a:rPr lang="en-GB" altLang="en-US" dirty="0" err="1"/>
              <a:t>kỷ</a:t>
            </a:r>
            <a:r>
              <a:rPr lang="en-GB" altLang="en-US" dirty="0"/>
              <a:t> 20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44A0F9A-C83B-D92F-FCB2-9290C1B194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FEBAE76-B5B2-4303-9019-803119DE1A1F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B0B55CD-3DB9-F816-87A6-C1F05B6A0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CB30E21-B5D1-993C-78E5-E3DB8C72F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6D12D2BF-85EA-12CD-E0B8-E5160D5D8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3D2676-99F7-45F7-9116-E0EF33ED4573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CACC889-68A0-0171-2BB7-897C3AD294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30AB291-6D56-9D1F-AD75-85C7078CE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23EDF8DB-FAE7-0571-7216-527E2A7113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86F43A4-CD2A-4838-A101-89B50F134E1E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F7142A1-8ABB-43F4-CB01-93898536CD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378737B-3D48-3C60-727A-A648E397C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C95DFB46-72CE-8503-7090-40364D7BDF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3131EC-910F-455D-A762-C4D8A97638A2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29A2A7CE-1300-4883-38D6-4803E3B440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3E31902-703A-FB02-9DEF-05FA5427B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6B14631D-B25A-A93E-3DB9-B09149D5A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C4FFD9-CFBF-4B33-9DF0-D8E8B99C9A11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22C9BCB-2003-AD00-7AF0-E20B95B291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C0242F0-9216-5EF3-5960-8CCBD0958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72573308-EAA5-6800-39D8-3D5C74DFD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55E695D-E24A-4B6E-99BE-D634E5C3B2FF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4E574F3-F699-2058-389A-7FA967889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EAFC795-474F-B1A9-6FC6-6202E155B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272A8334-6A19-88C6-4038-DA536EF7F0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EF67E4D-228D-45F0-9FCB-26B2785D9DB1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45B22D7-E600-96D5-93F6-A2FA1C3CA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43046CE-0CEE-457A-BFD9-E63A37FB8B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EAEAAF7-EEE2-BBE2-E72E-4FF5D1732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AEDF08-FC58-42E7-89D6-C87FAC0D5A57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BA6A72F-831F-224F-1A41-45B64402A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EF8387C8-DFAB-952F-BF77-E8D050B99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C3D0E33-5143-24C6-47D0-9F67B6BC80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04B476-0A5B-4458-B098-5EF523D55052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712BEBD-3484-3087-4658-E30DA2829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9E7244B-5024-9A16-2BC9-7C3685784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CF5D71A-E639-44BE-776D-FFE6A383D4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C7D87C4-E70B-49C4-83E3-268CDFEE9B67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9A65609-A719-297D-2AD0-56ADBF150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75E95A05-16C8-5065-5970-473DF0B3C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err="1"/>
              <a:t>Không</a:t>
            </a:r>
            <a:r>
              <a:rPr lang="en-GB" altLang="en-US" dirty="0"/>
              <a:t> </a:t>
            </a:r>
            <a:r>
              <a:rPr lang="en-GB" altLang="en-US" dirty="0" err="1"/>
              <a:t>tính</a:t>
            </a:r>
            <a:r>
              <a:rPr lang="en-GB" altLang="en-US" dirty="0"/>
              <a:t> </a:t>
            </a:r>
            <a:r>
              <a:rPr lang="en-GB" altLang="en-US" dirty="0" err="1"/>
              <a:t>bù</a:t>
            </a:r>
            <a:r>
              <a:rPr lang="en-GB" altLang="en-US" dirty="0"/>
              <a:t>:</a:t>
            </a:r>
            <a:br>
              <a:rPr lang="en-GB" altLang="en-US" dirty="0"/>
            </a:br>
            <a:r>
              <a:rPr lang="en-GB" altLang="en-US" dirty="0"/>
              <a:t>OR: Song song</a:t>
            </a:r>
          </a:p>
          <a:p>
            <a:pPr eaLnBrk="1" hangingPunct="1"/>
            <a:r>
              <a:rPr lang="en-GB" altLang="en-US" dirty="0"/>
              <a:t>AND: </a:t>
            </a:r>
            <a:r>
              <a:rPr lang="en-GB" altLang="en-US" dirty="0" err="1"/>
              <a:t>Nối</a:t>
            </a:r>
            <a:r>
              <a:rPr lang="en-GB" altLang="en-US" dirty="0"/>
              <a:t> </a:t>
            </a:r>
            <a:r>
              <a:rPr lang="en-GB" altLang="en-US" dirty="0" err="1"/>
              <a:t>tiếp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5A51BEC-447F-2EDE-39C9-1DE4A8F189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70FBBE-CBE1-43DE-BB84-39DD508CA091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E9F788F-9347-3EFC-0032-AA049E611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DE25329-0CA1-52A1-AD5B-58DC514E9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5332B97-5EBD-ACA3-E553-3767E6A96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08804E-D4A5-497D-A268-D8E4B603A128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EDAD189-CBFE-A3D0-FFB6-FAF5E3EEB4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D5C968D4-9FE2-6A9F-4D37-FA551BA73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7D07B54-C8B5-503B-138C-EB2178ECFC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08A9414-AC9B-4F1B-B79B-AAB86311366D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8CE06AB-9DCF-7BFB-A3C7-1833009960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981063C-761F-9836-D847-43D3A7425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F171024-266D-5AE6-94E3-DCE136E601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F14A1A7-81C8-45BC-8836-1722E1E2AC16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6E95309-EC6F-8501-9D1F-E761BA1B3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89D4B2A-7D4B-1B09-C3FD-7786D0C74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5D5EF641-3D2C-A9E7-8A64-A3F51DCB4A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0DBE22-6224-4BA3-8437-F1283497B298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0C11D19-5250-FE2D-8A9D-C60E588A7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29F685C-B6A0-4FEE-05F2-BAB6D9CD0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2CDA742B-7001-F11A-4444-BA4B555B6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14A51C-A1B1-460C-813D-F796161D9C92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0CDEB81-152E-A6D6-3050-CB9C30813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D6ED1D7-766D-7B4B-CA1A-05E1A104F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D44F154-90A3-2C5B-0207-9C33820AAE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B0E82E-6E09-4B7E-8DF1-3B72C6F8CBF7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93E19FC-E416-8742-96CD-E56B499AD6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6AC434E-722A-4B85-C2B6-FB4AFD689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DC7D9501-850B-35FC-7361-388665020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B284CE7-FFFA-439E-A0A1-64A126CE7008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630BE04C-2284-0979-A662-EADEAC6EC8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468E681-7C45-15FF-8CC5-FAF725441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9E1A2835-F60E-657D-A77B-58B031873F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50DF23-7DAB-4A68-80FF-42319D227317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E3C0ADC-DD82-B855-EE1C-46863BDC69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5623926-2A8E-D2DC-BF67-61C2B6DFE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79D2F886-99CC-292E-02C8-08CFFBA0C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0B5B2AD-F471-4F1C-8477-FF945ED5E263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DABC2AA5-3619-6FEA-3FF2-5CC32D7190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CC0E737-F5E7-F0BD-C267-1DEE0C562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631CF885-2555-D6B9-4F91-7652E5D8A4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B56516F-C2C9-48FC-AD63-F0ECE980888E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94D95D9-1515-9071-9E99-4954587779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BC545A6-7058-EF11-FE93-A41AB7B07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D79B47D9-068C-8A01-A3EA-E937065CAF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6004DA5-D1C8-4B6B-A146-6947894FDBA2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F8865D3-9412-1B1C-2BE9-28D4AA473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FC5AF13E-0140-B35A-B1D7-042013324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C0A5D007-6752-1EA5-D7F7-874BE25CD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69A64AC-11C7-41F8-87FB-578EB5C1244C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F4ECE607-F28F-07FB-5C78-3174CA4AB7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F985AF6A-8338-F65C-6049-104265590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45AFF945-C69B-1EAF-FDAC-CB8196C0CE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DE2BC14-0D54-40B4-8854-5B4ADB8E1F4D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B01EC209-A3EB-E3A0-A32E-14BA18CC9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6EC2A533-5215-5003-6FC8-BD4B55E06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FC2CC175-76B4-651A-8C2E-C53D7C650F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0513E6-7750-4367-A6DD-013D3EBDE8B2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499CC54-0F6D-65D8-86B0-AAE4339BDC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4F8D927F-0901-7EC5-2574-E92D2C0B4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EF7730AF-303C-BD4E-45BE-C9DEC49AA4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B7A0F1E-D3DD-49BF-95F6-C76BCCEBAE1B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48AE2CC-2CC9-5434-AE38-8DE9D943AE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BCA732B1-D1F5-6F9B-7C71-8180E7739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93283BAC-A280-D4A0-3CE5-F48E6A3ED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0D69EB3-5F79-47A3-B0B6-596734F28C56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2FAD70E3-E721-1951-CAB0-3F9D4F206A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3E818C66-6005-DFBD-F060-D2C635093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3E328BFB-DAD9-2A3F-FDE2-C5448889AF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600865A-3E5F-4F10-B433-74676E01E582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6D6B2C2-A5D2-2C31-F89E-41EB2D4D7A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39E0A629-2A6B-72F6-2F5C-A08A7B2748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0044A08A-3B26-1C7E-EE24-0F2BD0D466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D40E1A-B4C6-436B-A72B-C85CF3E126B7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01E5171D-7A2C-1AFC-2C60-FEC692BAF8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66C4904-167F-5D16-D55B-570E89C26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FE81D3A0-E4FF-4A42-A3C7-100B0F98CA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37A3FC2-5F92-4DA8-9D00-2B7E7857CBE1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2017866F-6CD3-E052-8019-1E38A7C89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2AE0BC68-65A7-15DF-4E8A-FAC5B4BFA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DCE95AA0-2687-8076-DF1C-C20759FB57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26C8FD-D806-4EBE-9AB6-7952C01CBE67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F0C66EA4-E8C9-FAF1-BAA7-1061038D60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753D40F-2110-FBE0-B6B5-AC390892F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538B6D0F-DB0F-544A-1DA0-43A7ECB164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A8BC8A-5329-4239-A8F0-21B97ACF181A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1BF3D8F7-1212-4661-6E59-DD5FE3760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D5A037DD-4B1A-DD3C-38EA-901F9C986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F6C8DF8-DA15-7052-9105-41A7B83C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D7F97C9-BBA3-47E6-85BD-91F49887843B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759AA68-F362-DA0F-FF9F-0E6958F1D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B3D30E3F-DF91-7D74-6217-A5B588C02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A001CB98-93E0-019A-E91C-D94AB3359A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3A0FC77-A4CA-4F68-A325-667D9D34A64A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38FC650-174A-5B0C-A613-60BEAD82E0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D0593442-9A27-7E20-095F-0EA5CAE83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AFB1E010-6854-A52F-629A-BE3FD98FFE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11225F-5C98-4AF6-8456-2424D45464C6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EBBAC76-BCA0-83EB-FF0A-63E60D5E9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93B55531-6F76-4093-E100-2648DC792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92166265-A133-ECB1-5FF3-3DF900E339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79972F1-44AF-4901-AAD6-BCD360C9895E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45831F62-2A1B-5162-1965-50FBE2A126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F89A3334-0204-10AB-2394-991D078DC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8F50E231-455A-236F-478E-58269939F9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5A8958-B46D-46DE-B46F-418FBF022467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922E094-2907-65F3-79CA-268A61A74F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DE2005E2-FCDE-17D6-B0F9-10E470D70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F7CA68F0-32E9-251C-74D4-FFC4A5B844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33A0CD-A37E-4585-BE00-4D3B964AC6CD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906CF3FD-935B-6269-331C-4F96CAF3F2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139D07D3-2330-4B90-1778-A380ACCC0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1814C4E-CF72-30D3-2A19-46D57D49A3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8BCB58-0C5B-410F-AA6E-7C7EC36A0B2A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4A7262B4-1ACA-F6E3-AA22-CF92F24C6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7E78287C-5502-4997-6A74-F99C8A1DC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174319-DFD2-A8AD-2EBE-8702BA5B98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6E3A94C-B5CB-BA85-B047-B0CABA0009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E77C-64CD-46AA-94DD-81182868EB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587967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E93EEB6-92BC-3C5D-BBC7-D0E139AD70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5E0D5F-3B82-5880-490F-52745AC6924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161CE-4247-4EC5-99CB-71DC99E4A6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086980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351E9FE-95FC-559A-4104-C212E0B1E31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D7A8C97-4BBA-F9E6-7854-5E114BF740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26713-5035-4170-92AA-5C7C110D2E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751433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4812-DAFF-86DF-3D5F-8A0FF29A55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63F454-78DC-42D5-A723-C1EACEF4B02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389D2-3982-43E7-AFC4-543F080E57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4138931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9A54757-EBDF-F467-3A39-8B06D64F82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DDA193E-2738-19ED-8EA3-D2003500DC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B9693-D782-4343-8A9D-0DFD704BBE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697580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F9C745B-F253-C7EF-6098-4989DA1AA5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7AA8B37-4DF7-8CF6-3B67-E4EBC443738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0F32C4-D987-47F3-B362-F78F3D7977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394402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C76EB1-835A-36D1-4929-58D47CB8F7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F687693-7CFB-F5A4-4B46-811DBEBBCF9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567B6-08ED-4DCC-8F7C-00782C7F62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8207957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EFC9F6-4287-EA0C-3B15-77CD34716A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4034C5-39CF-B919-C37D-441DD1A318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C294C-2F40-4D12-B0B3-80B4CB4D65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8426337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FF5BF1-1D7C-B745-7E3B-693C37CC80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F1A8C5-53B8-7FE3-A0AD-D905876D48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C9A94-D953-4724-8A25-BE7001199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412265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596D50-EFDC-A9C6-34B6-E43819AD55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F0A32A-043E-1456-E43B-52131773E7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855FC-61C7-44E4-969B-5F9DF83909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648456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68A0F84-3CE8-3C2B-7C79-625324894A3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813354-4A14-F515-BD2D-3BA64911A6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23AE0-E923-4DCE-B133-800D9D36C6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513191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7724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038A5B-82B2-6A86-BBC3-9277A261D0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AC87B1-99E6-1C20-F4AF-BC534B74AD7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9193A-CBED-4979-B543-D06B33F148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20260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624EA7-3B47-9DFB-2FBD-FBADB776C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312EE2-F9B7-2CA7-9DE0-2B20202AD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DDAB84-130E-6384-70C3-2FFEEBFD5D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rgbClr val="0000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02F932-87AF-024C-0F99-6D4D2E8AD6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solidFill>
                  <a:srgbClr val="0000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1599AE-74B7-4EF8-BA91-F597B654E7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66234242-516E-DF17-08A5-E39CCF8CD48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457200"/>
            <a:ext cx="0" cy="6172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6D5FD416-15B4-1AC3-1415-65919532F9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457200"/>
            <a:ext cx="8305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113250D5-AE18-C150-CDF4-6494FA268EF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763000" y="457200"/>
            <a:ext cx="0" cy="6172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10">
            <a:extLst>
              <a:ext uri="{FF2B5EF4-FFF2-40B4-BE49-F238E27FC236}">
                <a16:creationId xmlns:a16="http://schemas.microsoft.com/office/drawing/2014/main" id="{12E812FA-F7F8-2E06-7BE5-5D36E0BA5A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629400"/>
            <a:ext cx="8305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Rectangle 11" descr="Small checker board">
            <a:extLst>
              <a:ext uri="{FF2B5EF4-FFF2-40B4-BE49-F238E27FC236}">
                <a16:creationId xmlns:a16="http://schemas.microsoft.com/office/drawing/2014/main" id="{C4E19CBB-AD27-D0C7-93E5-5F05C45F82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096000"/>
            <a:ext cx="7772400" cy="152400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5" name="Rectangle 12" descr="Small checker board">
            <a:extLst>
              <a:ext uri="{FF2B5EF4-FFF2-40B4-BE49-F238E27FC236}">
                <a16:creationId xmlns:a16="http://schemas.microsoft.com/office/drawing/2014/main" id="{535FDC51-6EB3-6CF8-9691-8710DF70E5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1295400"/>
            <a:ext cx="7772400" cy="152400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6" name="Text Box 13">
            <a:extLst>
              <a:ext uri="{FF2B5EF4-FFF2-40B4-BE49-F238E27FC236}">
                <a16:creationId xmlns:a16="http://schemas.microsoft.com/office/drawing/2014/main" id="{FD911A72-5F4D-5F9C-52FE-EF552D5968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33800" y="6248400"/>
            <a:ext cx="25908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>
                <a:solidFill>
                  <a:srgbClr val="0000FF"/>
                </a:solidFill>
                <a:latin typeface="Arial" panose="020B0604020202020204" pitchFamily="34" charset="0"/>
              </a:rPr>
              <a:t>CMOS VLSI Design </a:t>
            </a:r>
            <a:r>
              <a:rPr lang="en-US" altLang="en-US" sz="1400" b="1" baseline="30000">
                <a:solidFill>
                  <a:srgbClr val="0000FF"/>
                </a:solidFill>
                <a:latin typeface="Arial" panose="020B0604020202020204" pitchFamily="34" charset="0"/>
              </a:rPr>
              <a:t>4th Ed.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400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9pPr>
    </p:titleStyle>
    <p:bodyStyle>
      <a:lvl1pPr marL="455613" indent="-455613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855663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98563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0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3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9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4">
            <a:extLst>
              <a:ext uri="{FF2B5EF4-FFF2-40B4-BE49-F238E27FC236}">
                <a16:creationId xmlns:a16="http://schemas.microsoft.com/office/drawing/2014/main" id="{7CF6A497-13FF-0A08-55C1-F30B912E1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57200"/>
            <a:ext cx="0" cy="6172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Line 5">
            <a:extLst>
              <a:ext uri="{FF2B5EF4-FFF2-40B4-BE49-F238E27FC236}">
                <a16:creationId xmlns:a16="http://schemas.microsoft.com/office/drawing/2014/main" id="{9A81BE63-6E4C-509F-6058-AC5CF1A08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57200"/>
            <a:ext cx="8305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" name="Line 6">
            <a:extLst>
              <a:ext uri="{FF2B5EF4-FFF2-40B4-BE49-F238E27FC236}">
                <a16:creationId xmlns:a16="http://schemas.microsoft.com/office/drawing/2014/main" id="{49A4C520-858D-C284-BED6-85FEA384F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457200"/>
            <a:ext cx="0" cy="6172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" name="Line 7">
            <a:extLst>
              <a:ext uri="{FF2B5EF4-FFF2-40B4-BE49-F238E27FC236}">
                <a16:creationId xmlns:a16="http://schemas.microsoft.com/office/drawing/2014/main" id="{107B56C6-B56E-3B4B-C5BD-695E28209B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629400"/>
            <a:ext cx="8305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" name="Rectangle 15">
            <a:extLst>
              <a:ext uri="{FF2B5EF4-FFF2-40B4-BE49-F238E27FC236}">
                <a16:creationId xmlns:a16="http://schemas.microsoft.com/office/drawing/2014/main" id="{53E209A4-F2D6-8EF0-1AB7-586636BD95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953000" y="4191000"/>
            <a:ext cx="41910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>
                <a:solidFill>
                  <a:schemeClr val="tx1"/>
                </a:solidFill>
              </a:rPr>
              <a:t>Lecture 1: </a:t>
            </a:r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Circuits &amp; Layout</a:t>
            </a:r>
          </a:p>
        </p:txBody>
      </p:sp>
      <p:pic>
        <p:nvPicPr>
          <p:cNvPr id="4103" name="Picture 17" descr="cover">
            <a:extLst>
              <a:ext uri="{FF2B5EF4-FFF2-40B4-BE49-F238E27FC236}">
                <a16:creationId xmlns:a16="http://schemas.microsoft.com/office/drawing/2014/main" id="{E2D95B6E-ECE0-3FAB-7940-DB888BAB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0"/>
            <a:ext cx="43815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439AB-D855-53CA-F5BE-1B6B72B5DB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147" name="Slide Number Placeholder 4">
            <a:extLst>
              <a:ext uri="{FF2B5EF4-FFF2-40B4-BE49-F238E27FC236}">
                <a16:creationId xmlns:a16="http://schemas.microsoft.com/office/drawing/2014/main" id="{04A70616-EDC5-B416-7C32-03761D1320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5889BD-1F3D-43FA-AF47-D8C7ACE014FF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62136FBD-5333-9C07-864B-A21737716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FE825B83-D925-121E-12D2-3385055F5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Brief History</a:t>
            </a:r>
          </a:p>
          <a:p>
            <a:pPr eaLnBrk="1" hangingPunct="1"/>
            <a:r>
              <a:rPr lang="en-US" altLang="en-US"/>
              <a:t>CMOS Gate Design</a:t>
            </a:r>
          </a:p>
          <a:p>
            <a:pPr eaLnBrk="1" hangingPunct="1"/>
            <a:r>
              <a:rPr lang="en-US" altLang="en-US"/>
              <a:t>Pass Transistors</a:t>
            </a:r>
          </a:p>
          <a:p>
            <a:pPr eaLnBrk="1" hangingPunct="1"/>
            <a:r>
              <a:rPr lang="en-US" altLang="en-US"/>
              <a:t>CMOS Latches &amp; Flip-Flops</a:t>
            </a:r>
          </a:p>
          <a:p>
            <a:pPr eaLnBrk="1" hangingPunct="1"/>
            <a:r>
              <a:rPr lang="en-US" altLang="en-US"/>
              <a:t>Standard Cell Layouts</a:t>
            </a:r>
          </a:p>
          <a:p>
            <a:pPr eaLnBrk="1" hangingPunct="1"/>
            <a:r>
              <a:rPr lang="en-US" altLang="en-US"/>
              <a:t>Stick Diagrams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268E865-D917-B3A3-90CB-DF17ACEEEE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53B517D2-AE69-9E85-366F-778BA0FA22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1C20EC-1D2B-436F-A17A-CF947B7B280D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4641368-3C08-77B0-9027-E4619AAD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Brief History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D365D29D-ED12-F94A-2A78-000146F41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5029200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1958: First integrated circuit</a:t>
            </a:r>
          </a:p>
          <a:p>
            <a:pPr lvl="1" eaLnBrk="1" hangingPunct="1"/>
            <a:r>
              <a:rPr lang="en-US" altLang="en-US" dirty="0"/>
              <a:t>Flip-flop using two transistors</a:t>
            </a:r>
          </a:p>
          <a:p>
            <a:pPr lvl="1" eaLnBrk="1" hangingPunct="1"/>
            <a:r>
              <a:rPr lang="en-US" altLang="en-US" dirty="0"/>
              <a:t>Built by Jack Kilby at Texas Instruments</a:t>
            </a:r>
          </a:p>
          <a:p>
            <a:pPr eaLnBrk="1" hangingPunct="1"/>
            <a:r>
              <a:rPr lang="en-US" altLang="en-US" dirty="0"/>
              <a:t>2010</a:t>
            </a:r>
          </a:p>
          <a:p>
            <a:pPr lvl="1" eaLnBrk="1" hangingPunct="1"/>
            <a:r>
              <a:rPr lang="en-US" altLang="en-US" dirty="0"/>
              <a:t>Intel Core </a:t>
            </a:r>
            <a:r>
              <a:rPr lang="en-US" altLang="en-US" dirty="0" err="1"/>
              <a:t>i7</a:t>
            </a:r>
            <a:r>
              <a:rPr lang="en-US" altLang="en-US" dirty="0"/>
              <a:t> </a:t>
            </a:r>
            <a:r>
              <a:rPr lang="en-US" altLang="en-US" dirty="0" err="1">
                <a:latin typeface="Symbol" panose="05050102010706020507" pitchFamily="18" charset="2"/>
              </a:rPr>
              <a:t>m</a:t>
            </a:r>
            <a:r>
              <a:rPr lang="en-US" altLang="en-US" dirty="0" err="1"/>
              <a:t>processor</a:t>
            </a:r>
            <a:r>
              <a:rPr lang="en-US" altLang="en-US" dirty="0"/>
              <a:t> </a:t>
            </a:r>
          </a:p>
          <a:p>
            <a:pPr lvl="2" eaLnBrk="1" hangingPunct="1"/>
            <a:r>
              <a:rPr lang="en-US" altLang="en-US" dirty="0"/>
              <a:t>2.3 billion transistors</a:t>
            </a:r>
          </a:p>
          <a:p>
            <a:pPr lvl="1" eaLnBrk="1" hangingPunct="1"/>
            <a:r>
              <a:rPr lang="en-US" altLang="en-US" dirty="0"/>
              <a:t>64 Gb Flash memory </a:t>
            </a:r>
          </a:p>
          <a:p>
            <a:pPr lvl="2" eaLnBrk="1" hangingPunct="1"/>
            <a:r>
              <a:rPr lang="en-US" altLang="en-US" dirty="0"/>
              <a:t>&gt; 16 billion transistors</a:t>
            </a:r>
          </a:p>
        </p:txBody>
      </p:sp>
      <p:pic>
        <p:nvPicPr>
          <p:cNvPr id="8198" name="Picture 4" descr="0102b">
            <a:extLst>
              <a:ext uri="{FF2B5EF4-FFF2-40B4-BE49-F238E27FC236}">
                <a16:creationId xmlns:a16="http://schemas.microsoft.com/office/drawing/2014/main" id="{8559A06D-4324-4DA4-AA80-8B6EDB206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524000"/>
            <a:ext cx="27432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Text Box 5">
            <a:extLst>
              <a:ext uri="{FF2B5EF4-FFF2-40B4-BE49-F238E27FC236}">
                <a16:creationId xmlns:a16="http://schemas.microsoft.com/office/drawing/2014/main" id="{BF4D3514-8271-BDD0-2638-5840A04E2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429000"/>
            <a:ext cx="2819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Courtesy Texas Instruments</a:t>
            </a:r>
          </a:p>
        </p:txBody>
      </p:sp>
      <p:pic>
        <p:nvPicPr>
          <p:cNvPr id="8200" name="Picture 7">
            <a:extLst>
              <a:ext uri="{FF2B5EF4-FFF2-40B4-BE49-F238E27FC236}">
                <a16:creationId xmlns:a16="http://schemas.microsoft.com/office/drawing/2014/main" id="{AF967B0A-1CD8-37A5-987D-55FA4A481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733800"/>
            <a:ext cx="1973263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Text Box 9">
            <a:extLst>
              <a:ext uri="{FF2B5EF4-FFF2-40B4-BE49-F238E27FC236}">
                <a16:creationId xmlns:a16="http://schemas.microsoft.com/office/drawing/2014/main" id="{4F0AF54F-CCFF-E873-B470-4BD4E0231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562600"/>
            <a:ext cx="990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[Trinh09]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© 2009 IEEE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4BA65EE-1EF4-C838-1E07-4AABAC131B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8C5502A-5586-0DE1-B66F-FFB708B5553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6D8F37-753C-42CC-A6B4-10AB6C2A0820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5D694E29-461C-652D-2036-D1A52F515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Growth Rate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4F9E4633-C9D7-B2BF-DC15-9BDB68EBA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53% compound annual growth rate over 50 years</a:t>
            </a:r>
          </a:p>
          <a:p>
            <a:pPr lvl="1" eaLnBrk="1" hangingPunct="1"/>
            <a:r>
              <a:rPr lang="en-US" altLang="en-US"/>
              <a:t>No other technology has grown so fast so long</a:t>
            </a:r>
          </a:p>
          <a:p>
            <a:pPr eaLnBrk="1" hangingPunct="1"/>
            <a:r>
              <a:rPr lang="en-US" altLang="en-US"/>
              <a:t>Driven by miniaturization of transistors</a:t>
            </a:r>
          </a:p>
          <a:p>
            <a:pPr lvl="1" eaLnBrk="1" hangingPunct="1"/>
            <a:r>
              <a:rPr lang="en-US" altLang="en-US"/>
              <a:t>Smaller is cheaper, faster, lower in power!</a:t>
            </a:r>
          </a:p>
          <a:p>
            <a:pPr lvl="1" eaLnBrk="1" hangingPunct="1"/>
            <a:r>
              <a:rPr lang="en-US" altLang="en-US"/>
              <a:t>Revolutionary effects on society</a:t>
            </a:r>
          </a:p>
          <a:p>
            <a:pPr eaLnBrk="1" hangingPunct="1"/>
            <a:endParaRPr lang="en-US" altLang="en-US"/>
          </a:p>
        </p:txBody>
      </p:sp>
      <p:pic>
        <p:nvPicPr>
          <p:cNvPr id="10246" name="Picture 4">
            <a:extLst>
              <a:ext uri="{FF2B5EF4-FFF2-40B4-BE49-F238E27FC236}">
                <a16:creationId xmlns:a16="http://schemas.microsoft.com/office/drawing/2014/main" id="{92ABECDF-0A23-D321-2190-9418E5E5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0"/>
            <a:ext cx="64008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Text Box 5">
            <a:extLst>
              <a:ext uri="{FF2B5EF4-FFF2-40B4-BE49-F238E27FC236}">
                <a16:creationId xmlns:a16="http://schemas.microsoft.com/office/drawing/2014/main" id="{D5D538A9-E45A-DE18-ED50-D3A7472F2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486400"/>
            <a:ext cx="13716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[Moore65]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Electronics Magazine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E468917-2762-F2CE-59FA-C27429752A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12291" name="Slide Number Placeholder 4">
            <a:extLst>
              <a:ext uri="{FF2B5EF4-FFF2-40B4-BE49-F238E27FC236}">
                <a16:creationId xmlns:a16="http://schemas.microsoft.com/office/drawing/2014/main" id="{16D36007-90B7-39E0-4110-D642732961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6636DD-E17F-4B58-86E5-A61964E27F5A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FA773A38-711C-1C58-56C3-511E4529F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Annual Sales</a:t>
            </a: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1EBB75B6-1785-DDB1-1554-7716618E2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&gt;10</a:t>
            </a:r>
            <a:r>
              <a:rPr lang="en-US" altLang="en-US" baseline="30000"/>
              <a:t>19</a:t>
            </a:r>
            <a:r>
              <a:rPr lang="en-US" altLang="en-US"/>
              <a:t> transistors manufactured in 2008</a:t>
            </a:r>
          </a:p>
          <a:p>
            <a:pPr lvl="1" eaLnBrk="1" hangingPunct="1"/>
            <a:r>
              <a:rPr lang="en-US" altLang="en-US"/>
              <a:t>1 billion for every human on the planet</a:t>
            </a:r>
          </a:p>
        </p:txBody>
      </p:sp>
      <p:pic>
        <p:nvPicPr>
          <p:cNvPr id="12294" name="Picture 7">
            <a:extLst>
              <a:ext uri="{FF2B5EF4-FFF2-40B4-BE49-F238E27FC236}">
                <a16:creationId xmlns:a16="http://schemas.microsoft.com/office/drawing/2014/main" id="{E6B13D85-2FC7-2827-2C9A-E0B7EB3C6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38400"/>
            <a:ext cx="7848600" cy="349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0874DA0-FD69-97ED-E266-CF8FBF9B43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14339" name="Slide Number Placeholder 4">
            <a:extLst>
              <a:ext uri="{FF2B5EF4-FFF2-40B4-BE49-F238E27FC236}">
                <a16:creationId xmlns:a16="http://schemas.microsoft.com/office/drawing/2014/main" id="{5E328704-67FD-8B81-CA08-813BCC3CD0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165548-13BC-4435-88B3-65020492C3F8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D4DB7337-BC7F-C48C-0597-126FACF76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534400" cy="685800"/>
          </a:xfrm>
        </p:spPr>
        <p:txBody>
          <a:bodyPr/>
          <a:lstStyle/>
          <a:p>
            <a:pPr eaLnBrk="1" hangingPunct="1"/>
            <a:r>
              <a:rPr lang="en-US" altLang="en-US"/>
              <a:t>Invention of the Transistor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1DEFA030-E12E-6C0C-2899-CDE2A0C94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Vacuum tubes ruled in first half of 20</a:t>
            </a:r>
            <a:r>
              <a:rPr lang="en-US" altLang="en-US" baseline="30000"/>
              <a:t>th</a:t>
            </a:r>
            <a:r>
              <a:rPr lang="en-US" altLang="en-US"/>
              <a:t> century Large, expensive, power-hungry, unreliable</a:t>
            </a:r>
          </a:p>
          <a:p>
            <a:pPr eaLnBrk="1" hangingPunct="1"/>
            <a:r>
              <a:rPr lang="en-US" altLang="en-US"/>
              <a:t>1947: first point contact transistor</a:t>
            </a:r>
          </a:p>
          <a:p>
            <a:pPr lvl="1" eaLnBrk="1" hangingPunct="1"/>
            <a:r>
              <a:rPr lang="en-US" altLang="en-US"/>
              <a:t>John Bardeen and Walter Brattain at Bell Labs</a:t>
            </a:r>
          </a:p>
          <a:p>
            <a:pPr lvl="1" eaLnBrk="1" hangingPunct="1"/>
            <a:r>
              <a:rPr lang="en-US" altLang="en-US"/>
              <a:t>See </a:t>
            </a:r>
            <a:r>
              <a:rPr lang="en-US" altLang="en-US" i="1"/>
              <a:t>Crystal Fire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by Riordan, Hoddeson</a:t>
            </a:r>
            <a:endParaRPr lang="en-US" altLang="en-US">
              <a:latin typeface="Verdana" panose="020B0604030504040204" pitchFamily="34" charset="0"/>
            </a:endParaRPr>
          </a:p>
        </p:txBody>
      </p:sp>
      <p:pic>
        <p:nvPicPr>
          <p:cNvPr id="14342" name="Picture 7" descr="lect1transistor">
            <a:extLst>
              <a:ext uri="{FF2B5EF4-FFF2-40B4-BE49-F238E27FC236}">
                <a16:creationId xmlns:a16="http://schemas.microsoft.com/office/drawing/2014/main" id="{62D31C59-FF7E-460C-A9B9-3DFEEAFE0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167063"/>
            <a:ext cx="3451225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 Box 8">
            <a:extLst>
              <a:ext uri="{FF2B5EF4-FFF2-40B4-BE49-F238E27FC236}">
                <a16:creationId xmlns:a16="http://schemas.microsoft.com/office/drawing/2014/main" id="{300E3DB2-3973-65BC-F9C9-5BA68D277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486400"/>
            <a:ext cx="990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AT&amp;T Archives.  Reprinted with permission.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BEF05-68F2-47AA-CF5A-08C02F6DDD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16387" name="Slide Number Placeholder 4">
            <a:extLst>
              <a:ext uri="{FF2B5EF4-FFF2-40B4-BE49-F238E27FC236}">
                <a16:creationId xmlns:a16="http://schemas.microsoft.com/office/drawing/2014/main" id="{6EFD6DC8-9112-4F47-39D6-CBCB66F2A7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BC2F45-5F6A-4A16-8095-79880FC403F1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84908715-929A-5EFD-3695-B8104D296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Transistor Types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DE448035-632A-36EF-7D1D-3A3BEF234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Bipolar transistors</a:t>
            </a:r>
          </a:p>
          <a:p>
            <a:pPr lvl="1" eaLnBrk="1" hangingPunct="1"/>
            <a:r>
              <a:rPr lang="en-US" altLang="en-US" dirty="0" err="1"/>
              <a:t>npn</a:t>
            </a:r>
            <a:r>
              <a:rPr lang="en-US" altLang="en-US" dirty="0"/>
              <a:t> or </a:t>
            </a:r>
            <a:r>
              <a:rPr lang="en-US" altLang="en-US" dirty="0" err="1"/>
              <a:t>pnp</a:t>
            </a:r>
            <a:r>
              <a:rPr lang="en-US" altLang="en-US" dirty="0"/>
              <a:t> silicon structure</a:t>
            </a:r>
          </a:p>
          <a:p>
            <a:pPr lvl="1" eaLnBrk="1" hangingPunct="1"/>
            <a:r>
              <a:rPr lang="en-US" altLang="en-US" dirty="0"/>
              <a:t>Small current into very thin base layer controls large currents between emitter and collector</a:t>
            </a:r>
          </a:p>
          <a:p>
            <a:pPr lvl="1" eaLnBrk="1" hangingPunct="1"/>
            <a:r>
              <a:rPr lang="en-US" altLang="en-US" dirty="0"/>
              <a:t>Base currents limit integration density</a:t>
            </a:r>
          </a:p>
          <a:p>
            <a:pPr eaLnBrk="1" hangingPunct="1"/>
            <a:r>
              <a:rPr lang="en-US" altLang="en-US" dirty="0"/>
              <a:t>Metal Oxide Semiconductor Field Effect Transistors</a:t>
            </a:r>
          </a:p>
          <a:p>
            <a:pPr lvl="1" eaLnBrk="1" hangingPunct="1"/>
            <a:r>
              <a:rPr lang="en-US" altLang="en-US" dirty="0" err="1"/>
              <a:t>nMOS</a:t>
            </a:r>
            <a:r>
              <a:rPr lang="en-US" altLang="en-US" dirty="0"/>
              <a:t> and </a:t>
            </a:r>
            <a:r>
              <a:rPr lang="en-US" altLang="en-US" dirty="0" err="1"/>
              <a:t>pMOS</a:t>
            </a:r>
            <a:r>
              <a:rPr lang="en-US" altLang="en-US" dirty="0"/>
              <a:t> MOSFETS</a:t>
            </a:r>
          </a:p>
          <a:p>
            <a:pPr lvl="1" eaLnBrk="1" hangingPunct="1"/>
            <a:r>
              <a:rPr lang="en-US" altLang="en-US" dirty="0"/>
              <a:t>Voltage applied to insulated gate controls current between source and drain</a:t>
            </a:r>
          </a:p>
          <a:p>
            <a:pPr lvl="1" eaLnBrk="1" hangingPunct="1"/>
            <a:r>
              <a:rPr lang="en-US" altLang="en-US" dirty="0"/>
              <a:t>Low power allows very high integration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F840F-1F3B-4E51-2F3D-E61F58D526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4A13C-CBFF-DD64-4906-58A200A90D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B161CE-4247-4EC5-99CB-71DC99E4A6C8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3FE5A2E-7FB4-FCC4-BEDB-89746489C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988536"/>
              </p:ext>
            </p:extLst>
          </p:nvPr>
        </p:nvGraphicFramePr>
        <p:xfrm>
          <a:off x="1295400" y="1524000"/>
          <a:ext cx="7010400" cy="4592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3989392839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1330349256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449285692"/>
                    </a:ext>
                  </a:extLst>
                </a:gridCol>
              </a:tblGrid>
              <a:tr h="578616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/>
                        <a:t>BJT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MOSFET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2661"/>
                  </a:ext>
                </a:extLst>
              </a:tr>
              <a:tr h="578616">
                <a:tc>
                  <a:txBody>
                    <a:bodyPr/>
                    <a:lstStyle/>
                    <a:p>
                      <a:r>
                        <a:rPr lang="en-GB" sz="2000" dirty="0" err="1"/>
                        <a:t>Phân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loại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NPN, PNP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NMOS, PMOS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643173"/>
                  </a:ext>
                </a:extLst>
              </a:tr>
              <a:tr h="578616">
                <a:tc>
                  <a:txBody>
                    <a:bodyPr/>
                    <a:lstStyle/>
                    <a:p>
                      <a:r>
                        <a:rPr lang="en-GB" sz="2000" dirty="0" err="1"/>
                        <a:t>Cực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E, B, 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S, D, 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4943"/>
                  </a:ext>
                </a:extLst>
              </a:tr>
              <a:tr h="578616">
                <a:tc>
                  <a:txBody>
                    <a:bodyPr/>
                    <a:lstStyle/>
                    <a:p>
                      <a:r>
                        <a:rPr lang="en-GB" sz="2000" dirty="0" err="1"/>
                        <a:t>Điện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trở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đầu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vào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và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cách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ĐK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Nhỏ</a:t>
                      </a:r>
                      <a:r>
                        <a:rPr lang="en-GB" sz="2000" dirty="0"/>
                        <a:t>, </a:t>
                      </a:r>
                      <a:r>
                        <a:rPr lang="en-GB" sz="2000" dirty="0" err="1"/>
                        <a:t>dòng</a:t>
                      </a:r>
                      <a:r>
                        <a:rPr lang="en-GB" sz="2000" dirty="0"/>
                        <a:t> 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Lớn</a:t>
                      </a:r>
                      <a:r>
                        <a:rPr lang="en-GB" sz="2000" dirty="0"/>
                        <a:t>, </a:t>
                      </a:r>
                      <a:r>
                        <a:rPr lang="en-GB" sz="2000" dirty="0" err="1"/>
                        <a:t>áp</a:t>
                      </a:r>
                      <a:r>
                        <a:rPr lang="en-GB" sz="2000" dirty="0"/>
                        <a:t> V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255778"/>
                  </a:ext>
                </a:extLst>
              </a:tr>
              <a:tr h="998706">
                <a:tc>
                  <a:txBody>
                    <a:bodyPr/>
                    <a:lstStyle/>
                    <a:p>
                      <a:r>
                        <a:rPr lang="en-GB" sz="2000" dirty="0" err="1"/>
                        <a:t>Nhiệt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độ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và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ổn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định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Tốt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Kém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252639"/>
                  </a:ext>
                </a:extLst>
              </a:tr>
              <a:tr h="578616">
                <a:tc>
                  <a:txBody>
                    <a:bodyPr/>
                    <a:lstStyle/>
                    <a:p>
                      <a:r>
                        <a:rPr lang="en-GB" sz="2000" dirty="0" err="1"/>
                        <a:t>Tần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số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Thấp</a:t>
                      </a:r>
                      <a:r>
                        <a:rPr lang="en-GB" sz="2000" dirty="0"/>
                        <a:t>, </a:t>
                      </a:r>
                      <a:r>
                        <a:rPr lang="en-GB" sz="2000" dirty="0" err="1"/>
                        <a:t>trung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bình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Cao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335977"/>
                  </a:ext>
                </a:extLst>
              </a:tr>
              <a:tr h="578616">
                <a:tc>
                  <a:txBody>
                    <a:bodyPr/>
                    <a:lstStyle/>
                    <a:p>
                      <a:r>
                        <a:rPr lang="en-GB" sz="2000" dirty="0" err="1"/>
                        <a:t>Ứng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dụng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Mạch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khuếch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đại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Vi </a:t>
                      </a:r>
                      <a:r>
                        <a:rPr lang="en-GB" sz="2000" dirty="0" err="1"/>
                        <a:t>xử</a:t>
                      </a:r>
                      <a:r>
                        <a:rPr lang="en-GB" sz="2000" dirty="0"/>
                        <a:t> </a:t>
                      </a:r>
                      <a:r>
                        <a:rPr lang="en-GB" sz="2000" dirty="0" err="1"/>
                        <a:t>lý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16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479971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C12C660-8179-7013-A1E7-ACE2CDD5AC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18435" name="Slide Number Placeholder 4">
            <a:extLst>
              <a:ext uri="{FF2B5EF4-FFF2-40B4-BE49-F238E27FC236}">
                <a16:creationId xmlns:a16="http://schemas.microsoft.com/office/drawing/2014/main" id="{6769E4DC-9687-8F2F-A5E5-FA1B5DFE5E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8988DB-32E6-427F-85E6-BC4F6B585FBC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4007BB8-DC64-7FB0-CF8F-C2DB5689A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1970’s processes usually had only nMOS transistors</a:t>
            </a:r>
          </a:p>
          <a:p>
            <a:pPr lvl="1" eaLnBrk="1" hangingPunct="1"/>
            <a:r>
              <a:rPr lang="en-US" altLang="en-US"/>
              <a:t>Inexpensive, but consume power while idle</a:t>
            </a:r>
            <a:endParaRPr lang="en-US" altLang="en-US" sz="2800"/>
          </a:p>
          <a:p>
            <a:pPr lvl="1" eaLnBrk="1" hangingPunct="1"/>
            <a:endParaRPr lang="en-US" altLang="en-US" sz="2800"/>
          </a:p>
          <a:p>
            <a:pPr lvl="1" eaLnBrk="1" hangingPunct="1"/>
            <a:endParaRPr lang="en-US" altLang="en-US" sz="2800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1980s-present: CMOS processes for low idle power</a:t>
            </a: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6BAE5BC5-CC78-F8C1-D6A6-DCD88B4F4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MOS Integrated Circuits</a:t>
            </a: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8101A72B-7AF7-A448-EFBD-A986CAA1A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816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Intel 1101 256-bit SRAM</a:t>
            </a:r>
          </a:p>
        </p:txBody>
      </p:sp>
      <p:sp>
        <p:nvSpPr>
          <p:cNvPr id="18439" name="Text Box 7">
            <a:extLst>
              <a:ext uri="{FF2B5EF4-FFF2-40B4-BE49-F238E27FC236}">
                <a16:creationId xmlns:a16="http://schemas.microsoft.com/office/drawing/2014/main" id="{5F75B443-FAFF-53CB-FAE7-8F09AF118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1816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Intel 4004 4-bit </a:t>
            </a:r>
            <a:r>
              <a:rPr lang="en-US" altLang="en-US">
                <a:latin typeface="Symbol" panose="05050102010706020507" pitchFamily="18" charset="2"/>
              </a:rPr>
              <a:t>m</a:t>
            </a:r>
            <a:r>
              <a:rPr lang="en-US" altLang="en-US"/>
              <a:t>Proc</a:t>
            </a:r>
          </a:p>
        </p:txBody>
      </p:sp>
      <p:pic>
        <p:nvPicPr>
          <p:cNvPr id="18440" name="Picture 10" descr="0103a">
            <a:extLst>
              <a:ext uri="{FF2B5EF4-FFF2-40B4-BE49-F238E27FC236}">
                <a16:creationId xmlns:a16="http://schemas.microsoft.com/office/drawing/2014/main" id="{6E2F3F49-56F5-2945-9823-2677FC64E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8400"/>
            <a:ext cx="23717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11" descr="0103b">
            <a:extLst>
              <a:ext uri="{FF2B5EF4-FFF2-40B4-BE49-F238E27FC236}">
                <a16:creationId xmlns:a16="http://schemas.microsoft.com/office/drawing/2014/main" id="{97FA1BB3-E13B-3280-F78F-CFFB466F2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438400"/>
            <a:ext cx="3733800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2" name="Text Box 12">
            <a:extLst>
              <a:ext uri="{FF2B5EF4-FFF2-40B4-BE49-F238E27FC236}">
                <a16:creationId xmlns:a16="http://schemas.microsoft.com/office/drawing/2014/main" id="{AAE057E9-93F6-8700-F7C6-37DF2DFA2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648200"/>
            <a:ext cx="9906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[Vadasz69]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© 1969 IEEE.</a:t>
            </a:r>
          </a:p>
        </p:txBody>
      </p:sp>
      <p:sp>
        <p:nvSpPr>
          <p:cNvPr id="18443" name="Text Box 13">
            <a:extLst>
              <a:ext uri="{FF2B5EF4-FFF2-40B4-BE49-F238E27FC236}">
                <a16:creationId xmlns:a16="http://schemas.microsoft.com/office/drawing/2014/main" id="{2D6B99ED-1619-CA7F-1184-BE36ED603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419600"/>
            <a:ext cx="83820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Intel Museum.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Reprinted with permission.</a:t>
            </a: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59BACC-765B-6A08-273C-79B8E53069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20483" name="Slide Number Placeholder 4">
            <a:extLst>
              <a:ext uri="{FF2B5EF4-FFF2-40B4-BE49-F238E27FC236}">
                <a16:creationId xmlns:a16="http://schemas.microsoft.com/office/drawing/2014/main" id="{3EE2B06C-F15C-51A5-5C25-C933EE5459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9A0D5D-D96B-44B3-8526-A7C4C8B611A6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9D2E985E-158F-CB3A-FC64-6EB072EB7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Moore’s Law: Then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C0E0ECD6-5785-511D-F106-11BFBBF3F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1965: Gordon Moore plotted transistor on each chip</a:t>
            </a:r>
          </a:p>
          <a:p>
            <a:pPr lvl="1" eaLnBrk="1" hangingPunct="1"/>
            <a:r>
              <a:rPr lang="en-US" altLang="en-US" dirty="0"/>
              <a:t>Fit straight line on </a:t>
            </a:r>
            <a:r>
              <a:rPr lang="en-US" altLang="en-US" dirty="0" err="1"/>
              <a:t>semilog</a:t>
            </a:r>
            <a:r>
              <a:rPr lang="en-US" altLang="en-US" dirty="0"/>
              <a:t> scale</a:t>
            </a:r>
          </a:p>
          <a:p>
            <a:pPr lvl="1" eaLnBrk="1" hangingPunct="1"/>
            <a:r>
              <a:rPr lang="en-US" altLang="en-US" dirty="0"/>
              <a:t>Transistor counts have doubled every 26 months</a:t>
            </a:r>
          </a:p>
        </p:txBody>
      </p:sp>
      <p:sp>
        <p:nvSpPr>
          <p:cNvPr id="20486" name="Text Box 5">
            <a:extLst>
              <a:ext uri="{FF2B5EF4-FFF2-40B4-BE49-F238E27FC236}">
                <a16:creationId xmlns:a16="http://schemas.microsoft.com/office/drawing/2014/main" id="{F1EFB9BC-68F7-F5DD-3684-236DF6B09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124200"/>
            <a:ext cx="28956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u="sng"/>
              <a:t>Integration Levels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/>
              <a:t>SSI</a:t>
            </a:r>
            <a:r>
              <a:rPr lang="en-US" altLang="en-US"/>
              <a:t>: 	10 gates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/>
              <a:t>MSI</a:t>
            </a:r>
            <a:r>
              <a:rPr lang="en-US" altLang="en-US"/>
              <a:t>: 	1000 gates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/>
              <a:t>LSI</a:t>
            </a:r>
            <a:r>
              <a:rPr lang="en-US" altLang="en-US"/>
              <a:t>: 	10,000 gates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/>
              <a:t>VLSI</a:t>
            </a:r>
            <a:r>
              <a:rPr lang="en-US" altLang="en-US"/>
              <a:t>: 	&gt; 10k gates</a:t>
            </a:r>
          </a:p>
        </p:txBody>
      </p:sp>
      <p:pic>
        <p:nvPicPr>
          <p:cNvPr id="20487" name="Picture 6">
            <a:extLst>
              <a:ext uri="{FF2B5EF4-FFF2-40B4-BE49-F238E27FC236}">
                <a16:creationId xmlns:a16="http://schemas.microsoft.com/office/drawing/2014/main" id="{7396545E-10C4-8695-9860-C8605C8A4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48000"/>
            <a:ext cx="3140075" cy="281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 Box 7">
            <a:extLst>
              <a:ext uri="{FF2B5EF4-FFF2-40B4-BE49-F238E27FC236}">
                <a16:creationId xmlns:a16="http://schemas.microsoft.com/office/drawing/2014/main" id="{6C61F84E-7BE4-9C52-466C-5F6C0CD49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638800"/>
            <a:ext cx="13716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[Moore65]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/>
              <a:t>Electronics Magazine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1CD7BE-D839-00C4-B6E0-A96A696408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EE7D4FA1-DB01-62E3-1978-A42C9B8983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1A7C87-AB37-4C28-84B6-AF893BDBCACD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51693999-50A3-39AB-53E7-84CA0868C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And Now…</a:t>
            </a:r>
          </a:p>
        </p:txBody>
      </p:sp>
      <p:pic>
        <p:nvPicPr>
          <p:cNvPr id="22533" name="Picture 7" descr="0104">
            <a:extLst>
              <a:ext uri="{FF2B5EF4-FFF2-40B4-BE49-F238E27FC236}">
                <a16:creationId xmlns:a16="http://schemas.microsoft.com/office/drawing/2014/main" id="{ECA29148-E247-FD4B-B32A-2F3FC9A5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7772400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D4E80A7-C7BE-8444-9721-3A7B54495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24579" name="Slide Number Placeholder 4">
            <a:extLst>
              <a:ext uri="{FF2B5EF4-FFF2-40B4-BE49-F238E27FC236}">
                <a16:creationId xmlns:a16="http://schemas.microsoft.com/office/drawing/2014/main" id="{45B902A8-18E5-45DD-962F-A4A14CF8905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E04BAC-E898-415C-9DDA-56C7D60B76F3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B3545DC5-A286-9D20-309B-ECAA5C159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Feature Size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A1DD4685-46D6-69F2-EE6D-9E9612A80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Minimum feature size shrinking 30% every 2-3 years</a:t>
            </a:r>
          </a:p>
        </p:txBody>
      </p:sp>
      <p:pic>
        <p:nvPicPr>
          <p:cNvPr id="24582" name="Picture 5">
            <a:extLst>
              <a:ext uri="{FF2B5EF4-FFF2-40B4-BE49-F238E27FC236}">
                <a16:creationId xmlns:a16="http://schemas.microsoft.com/office/drawing/2014/main" id="{AC73F842-C0CA-8272-9249-0E4EE5D59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7400"/>
            <a:ext cx="7010400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7D5F6EA-32D4-01CE-7F75-4894C8B4E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26627" name="Slide Number Placeholder 4">
            <a:extLst>
              <a:ext uri="{FF2B5EF4-FFF2-40B4-BE49-F238E27FC236}">
                <a16:creationId xmlns:a16="http://schemas.microsoft.com/office/drawing/2014/main" id="{11ABBB66-6896-B69A-E79F-8EDA6C6ACB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E277D3-C1DC-47B0-82B1-4636DFF0F056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pic>
        <p:nvPicPr>
          <p:cNvPr id="26628" name="Picture 5" descr="0105">
            <a:extLst>
              <a:ext uri="{FF2B5EF4-FFF2-40B4-BE49-F238E27FC236}">
                <a16:creationId xmlns:a16="http://schemas.microsoft.com/office/drawing/2014/main" id="{F495A543-8FEC-1684-9EF5-B93448B4E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19350"/>
            <a:ext cx="594360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2">
            <a:extLst>
              <a:ext uri="{FF2B5EF4-FFF2-40B4-BE49-F238E27FC236}">
                <a16:creationId xmlns:a16="http://schemas.microsoft.com/office/drawing/2014/main" id="{A9DD247B-FAC9-680D-DD56-FF63D8DC9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Corollaries</a:t>
            </a: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26C341CD-4980-9BC3-0A5C-771B47BCE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Many other factors grow exponentially </a:t>
            </a:r>
          </a:p>
          <a:p>
            <a:pPr lvl="1" eaLnBrk="1" hangingPunct="1"/>
            <a:r>
              <a:rPr lang="en-US" altLang="en-US"/>
              <a:t>Ex: clock frequency, processor performance</a:t>
            </a:r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246349D-011D-F96E-7614-71A8BB55FE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id="{DED20C17-30F4-48A2-5F79-B5B082B3FC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662249-575F-47BF-8BD5-5FBD7347D2AC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746505F4-7A62-834B-004A-0091BFD17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CMOS Gate Design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1AC83D42-4DBD-6515-F9EB-A9E526A85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Activity:</a:t>
            </a:r>
          </a:p>
          <a:p>
            <a:pPr lvl="1" eaLnBrk="1" hangingPunct="1"/>
            <a:r>
              <a:rPr lang="en-US" altLang="en-US"/>
              <a:t>Sketch a 4-input CMOS NOR gate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8675A34B-4A13-0282-4B1C-C87547854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868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8679" name="Object 5">
            <a:extLst>
              <a:ext uri="{FF2B5EF4-FFF2-40B4-BE49-F238E27FC236}">
                <a16:creationId xmlns:a16="http://schemas.microsoft.com/office/drawing/2014/main" id="{2C30CEB3-3782-1C05-8816-10BDF6471E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438400"/>
          <a:ext cx="54102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16024" imgH="1121664" progId="Visio.Drawing.6">
                  <p:embed/>
                </p:oleObj>
              </mc:Choice>
              <mc:Fallback>
                <p:oleObj r:id="rId3" imgW="1716024" imgH="1121664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54102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3" name="Rectangle 7">
            <a:extLst>
              <a:ext uri="{FF2B5EF4-FFF2-40B4-BE49-F238E27FC236}">
                <a16:creationId xmlns:a16="http://schemas.microsoft.com/office/drawing/2014/main" id="{2FCDA49A-4F9D-E396-3307-33934A9EF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438400"/>
            <a:ext cx="5257800" cy="3581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ABDAA625-FC4B-B720-A73F-36C5EB436A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id="{0CA1F2DC-BC00-C560-F96A-CF56C32391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48FA42-194E-498F-AB06-582574D31E11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5703A749-DAE8-F8CF-5838-D0BDF9BB1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Complementary CMOS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AF392CDC-E116-7C30-B9CE-714B95A146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Complementary CMOS logic gates</a:t>
            </a:r>
          </a:p>
          <a:p>
            <a:pPr lvl="1" eaLnBrk="1" hangingPunct="1"/>
            <a:r>
              <a:rPr lang="en-US" altLang="en-US"/>
              <a:t>nMOS </a:t>
            </a:r>
            <a:r>
              <a:rPr lang="en-US" altLang="en-US" i="1"/>
              <a:t>pull-down network</a:t>
            </a:r>
          </a:p>
          <a:p>
            <a:pPr lvl="1" eaLnBrk="1" hangingPunct="1"/>
            <a:r>
              <a:rPr lang="en-US" altLang="en-US"/>
              <a:t>pMOS </a:t>
            </a:r>
            <a:r>
              <a:rPr lang="en-US" altLang="en-US" i="1"/>
              <a:t>pull-up network</a:t>
            </a:r>
          </a:p>
          <a:p>
            <a:pPr lvl="1" eaLnBrk="1" hangingPunct="1"/>
            <a:r>
              <a:rPr lang="en-US" altLang="en-US"/>
              <a:t>a.k.a. static CMOS</a:t>
            </a:r>
          </a:p>
        </p:txBody>
      </p:sp>
      <p:graphicFrame>
        <p:nvGraphicFramePr>
          <p:cNvPr id="30726" name="Object 4">
            <a:extLst>
              <a:ext uri="{FF2B5EF4-FFF2-40B4-BE49-F238E27FC236}">
                <a16:creationId xmlns:a16="http://schemas.microsoft.com/office/drawing/2014/main" id="{190E188B-9332-7A08-7978-C7706400B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1981200"/>
          <a:ext cx="2971800" cy="255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72768" imgH="1348740" progId="Visio.Drawing.6">
                  <p:embed/>
                </p:oleObj>
              </mc:Choice>
              <mc:Fallback>
                <p:oleObj name="VISIO" r:id="rId3" imgW="1572768" imgH="134874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981200"/>
                        <a:ext cx="2971800" cy="255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0" name="Group 32">
            <a:extLst>
              <a:ext uri="{FF2B5EF4-FFF2-40B4-BE49-F238E27FC236}">
                <a16:creationId xmlns:a16="http://schemas.microsoft.com/office/drawing/2014/main" id="{2F477CA9-C630-C585-3712-7C0AB841705A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962400"/>
          <a:ext cx="5638800" cy="1485899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Pull-up OFF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Pull-up ON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1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Pull-down OFF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 (float)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3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Pull-down ON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(crowbar)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568063-1CC0-7F61-1BA0-4C80B69F7D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41234403-9CF6-7FF3-B345-9172DDF4E0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72EC5D-242A-4400-B391-ED8E7E3F163B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B88192A7-25DB-E621-87AF-46343C67A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Series and Parallel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463E2B74-B7F3-3593-F510-CE99EE09E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nMOS: 1 = ON</a:t>
            </a:r>
          </a:p>
          <a:p>
            <a:pPr eaLnBrk="1" hangingPunct="1"/>
            <a:r>
              <a:rPr lang="en-US" altLang="en-US"/>
              <a:t>pMOS: 0 = ON</a:t>
            </a:r>
          </a:p>
          <a:p>
            <a:pPr eaLnBrk="1" hangingPunct="1"/>
            <a:r>
              <a:rPr lang="en-US" altLang="en-US" i="1"/>
              <a:t>Series</a:t>
            </a:r>
            <a:r>
              <a:rPr lang="en-US" altLang="en-US"/>
              <a:t>: both must be ON</a:t>
            </a:r>
          </a:p>
          <a:p>
            <a:pPr eaLnBrk="1" hangingPunct="1"/>
            <a:r>
              <a:rPr lang="en-US" altLang="en-US" i="1"/>
              <a:t>Parallel</a:t>
            </a:r>
            <a:r>
              <a:rPr lang="en-US" altLang="en-US"/>
              <a:t>: either can be ON</a:t>
            </a:r>
          </a:p>
        </p:txBody>
      </p:sp>
      <p:graphicFrame>
        <p:nvGraphicFramePr>
          <p:cNvPr id="32774" name="Object 4">
            <a:extLst>
              <a:ext uri="{FF2B5EF4-FFF2-40B4-BE49-F238E27FC236}">
                <a16:creationId xmlns:a16="http://schemas.microsoft.com/office/drawing/2014/main" id="{9EAD2700-34DC-2B95-E02F-457B3E4642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1524000"/>
          <a:ext cx="3257550" cy="454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259836" imgH="4543044" progId="Visio.Drawing.6">
                  <p:embed/>
                </p:oleObj>
              </mc:Choice>
              <mc:Fallback>
                <p:oleObj name="VISIO" r:id="rId3" imgW="3259836" imgH="454304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524000"/>
                        <a:ext cx="3257550" cy="454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52B7D78-25E3-0FA9-4B9A-E3F290EB0B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34819" name="Slide Number Placeholder 4">
            <a:extLst>
              <a:ext uri="{FF2B5EF4-FFF2-40B4-BE49-F238E27FC236}">
                <a16:creationId xmlns:a16="http://schemas.microsoft.com/office/drawing/2014/main" id="{26C5F491-CF4B-DB67-537A-76353B1840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ED5BDB-FBCB-49D6-8316-46BC5D7B5D80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A71792DD-AF50-9801-CBBF-F471F533F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Conduction Complement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8A1865F9-DEE7-D366-40E9-5DE151FAA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Complementary CMOS gates always produce 0 or 1</a:t>
            </a:r>
          </a:p>
          <a:p>
            <a:pPr eaLnBrk="1" hangingPunct="1"/>
            <a:r>
              <a:rPr lang="en-US" altLang="en-US" dirty="0"/>
              <a:t>Ex: NAND gate</a:t>
            </a:r>
          </a:p>
          <a:p>
            <a:pPr lvl="1" eaLnBrk="1" hangingPunct="1"/>
            <a:r>
              <a:rPr lang="en-US" altLang="en-US" dirty="0"/>
              <a:t>Series </a:t>
            </a:r>
            <a:r>
              <a:rPr lang="en-US" altLang="en-US" dirty="0" err="1"/>
              <a:t>nMOS</a:t>
            </a:r>
            <a:r>
              <a:rPr lang="en-US" altLang="en-US" dirty="0"/>
              <a:t>: Y=0 when both inputs are 1</a:t>
            </a:r>
          </a:p>
          <a:p>
            <a:pPr lvl="1" eaLnBrk="1" hangingPunct="1"/>
            <a:r>
              <a:rPr lang="en-US" altLang="en-US" dirty="0"/>
              <a:t>Thus Y=1 when either input is 0</a:t>
            </a:r>
          </a:p>
          <a:p>
            <a:pPr lvl="1" eaLnBrk="1" hangingPunct="1"/>
            <a:r>
              <a:rPr lang="en-US" altLang="en-US" dirty="0"/>
              <a:t>Requires parallel </a:t>
            </a:r>
            <a:r>
              <a:rPr lang="en-US" altLang="en-US" dirty="0" err="1"/>
              <a:t>pMOS</a:t>
            </a:r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Rule of </a:t>
            </a:r>
            <a:r>
              <a:rPr lang="en-US" altLang="en-US" i="1" dirty="0"/>
              <a:t>Conduction Complements</a:t>
            </a:r>
          </a:p>
          <a:p>
            <a:pPr lvl="1" eaLnBrk="1" hangingPunct="1"/>
            <a:r>
              <a:rPr lang="en-US" altLang="en-US" dirty="0"/>
              <a:t>Pull-up network is complement of pull-down</a:t>
            </a:r>
          </a:p>
          <a:p>
            <a:pPr lvl="1" eaLnBrk="1" hangingPunct="1"/>
            <a:r>
              <a:rPr lang="en-US" altLang="en-US" dirty="0"/>
              <a:t>Parallel -&gt; series, series -&gt; parallel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graphicFrame>
        <p:nvGraphicFramePr>
          <p:cNvPr id="34822" name="Object 4">
            <a:extLst>
              <a:ext uri="{FF2B5EF4-FFF2-40B4-BE49-F238E27FC236}">
                <a16:creationId xmlns:a16="http://schemas.microsoft.com/office/drawing/2014/main" id="{7A4BFBFA-ED1F-54E0-E17B-8200FD171C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895600"/>
          <a:ext cx="2362200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44880" imgH="720852" progId="Visio.Drawing.6">
                  <p:embed/>
                </p:oleObj>
              </mc:Choice>
              <mc:Fallback>
                <p:oleObj name="VISIO" r:id="rId3" imgW="944880" imgH="720852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895600"/>
                        <a:ext cx="2362200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9CAEC6C-C49F-DAF8-39E6-D53CA6C1CC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083B9474-EF21-186B-258E-FE3C2ADA13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62434D-468F-4E59-9ED2-E7CDABD65666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CF89CB9C-9010-A9C7-9097-1913E38A5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Compound Gates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401BAD33-9EEE-D003-A52E-DAEFA5CE7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Compound gates</a:t>
            </a:r>
            <a:r>
              <a:rPr lang="en-US" altLang="en-US"/>
              <a:t> can do any inverting function</a:t>
            </a:r>
          </a:p>
          <a:p>
            <a:pPr eaLnBrk="1" hangingPunct="1"/>
            <a:r>
              <a:rPr lang="en-US" altLang="en-US"/>
              <a:t>Ex: </a:t>
            </a:r>
          </a:p>
        </p:txBody>
      </p:sp>
      <p:graphicFrame>
        <p:nvGraphicFramePr>
          <p:cNvPr id="36870" name="Object 4">
            <a:extLst>
              <a:ext uri="{FF2B5EF4-FFF2-40B4-BE49-F238E27FC236}">
                <a16:creationId xmlns:a16="http://schemas.microsoft.com/office/drawing/2014/main" id="{FEB8D884-7C6A-7718-73D3-8692549FEE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5925" y="1905000"/>
          <a:ext cx="70008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7000" imgH="215900" progId="Equation.DSMT4">
                  <p:embed/>
                </p:oleObj>
              </mc:Choice>
              <mc:Fallback>
                <p:oleObj name="Equation" r:id="rId3" imgW="2667000" imgH="215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1905000"/>
                        <a:ext cx="70008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5">
            <a:extLst>
              <a:ext uri="{FF2B5EF4-FFF2-40B4-BE49-F238E27FC236}">
                <a16:creationId xmlns:a16="http://schemas.microsoft.com/office/drawing/2014/main" id="{2B13A28A-F185-06A6-AC50-85D222C8D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438400"/>
          <a:ext cx="5334000" cy="361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520440" imgH="2385060" progId="Visio.Drawing.6">
                  <p:embed/>
                </p:oleObj>
              </mc:Choice>
              <mc:Fallback>
                <p:oleObj name="VISIO" r:id="rId5" imgW="3520440" imgH="238506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5334000" cy="361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85D3008-B88A-A9FB-2A50-9840300DBA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38915" name="Slide Number Placeholder 4">
            <a:extLst>
              <a:ext uri="{FF2B5EF4-FFF2-40B4-BE49-F238E27FC236}">
                <a16:creationId xmlns:a16="http://schemas.microsoft.com/office/drawing/2014/main" id="{8A563EB2-FE11-E19C-B530-DEA750FAECA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8C001A-3E4A-4984-8103-7B44D5DD6316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76E6C975-11D8-ACB4-A0FC-BD7B996C2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O3AI 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6A066005-2D74-DBD4-CED8-46F0201E5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graphicFrame>
        <p:nvGraphicFramePr>
          <p:cNvPr id="38918" name="Object 4">
            <a:extLst>
              <a:ext uri="{FF2B5EF4-FFF2-40B4-BE49-F238E27FC236}">
                <a16:creationId xmlns:a16="http://schemas.microsoft.com/office/drawing/2014/main" id="{E05B3564-394F-8486-7209-16BCD6573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447800"/>
          <a:ext cx="26003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170" imgH="241195" progId="Equation.DSMT4">
                  <p:embed/>
                </p:oleObj>
              </mc:Choice>
              <mc:Fallback>
                <p:oleObj name="Equation" r:id="rId3" imgW="990170" imgH="24119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26003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5" name="Object 5">
            <a:extLst>
              <a:ext uri="{FF2B5EF4-FFF2-40B4-BE49-F238E27FC236}">
                <a16:creationId xmlns:a16="http://schemas.microsoft.com/office/drawing/2014/main" id="{8564FD20-0B3F-F146-9168-33BA5F709C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1828800"/>
          <a:ext cx="3897313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44524" imgH="1161288" progId="Visio.Drawing.6">
                  <p:embed/>
                </p:oleObj>
              </mc:Choice>
              <mc:Fallback>
                <p:oleObj name="VISIO" r:id="rId5" imgW="1144524" imgH="1161288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828800"/>
                        <a:ext cx="3897313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1EE7F-5B8B-00F3-51B8-DF10247697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40963" name="Slide Number Placeholder 4">
            <a:extLst>
              <a:ext uri="{FF2B5EF4-FFF2-40B4-BE49-F238E27FC236}">
                <a16:creationId xmlns:a16="http://schemas.microsoft.com/office/drawing/2014/main" id="{E99240CB-28D3-8B67-5DFE-C4522D3C5B2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2351B8-2454-405C-870F-920EB21D92D0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DD1579D6-1FAA-C435-862A-7F114EBBB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Signal Strength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90D1D0A5-9036-FB9D-282D-24D3EB6DF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 dirty="0"/>
              <a:t>Strength</a:t>
            </a:r>
            <a:r>
              <a:rPr lang="en-US" altLang="en-US" dirty="0"/>
              <a:t> of signal</a:t>
            </a:r>
          </a:p>
          <a:p>
            <a:pPr lvl="1" eaLnBrk="1" hangingPunct="1"/>
            <a:r>
              <a:rPr lang="en-US" altLang="en-US" dirty="0"/>
              <a:t>How close it approximates ideal voltage source</a:t>
            </a:r>
          </a:p>
          <a:p>
            <a:pPr eaLnBrk="1" hangingPunct="1"/>
            <a:r>
              <a:rPr lang="en-US" altLang="en-US" dirty="0" err="1"/>
              <a:t>V</a:t>
            </a:r>
            <a:r>
              <a:rPr lang="en-US" altLang="en-US" baseline="-25000" dirty="0" err="1"/>
              <a:t>DD</a:t>
            </a:r>
            <a:r>
              <a:rPr lang="en-US" altLang="en-US" dirty="0"/>
              <a:t> and </a:t>
            </a:r>
            <a:r>
              <a:rPr lang="en-US" altLang="en-US" dirty="0" err="1"/>
              <a:t>GND</a:t>
            </a:r>
            <a:r>
              <a:rPr lang="en-US" altLang="en-US" dirty="0"/>
              <a:t> rails are strongest 1 and 0</a:t>
            </a:r>
          </a:p>
          <a:p>
            <a:pPr eaLnBrk="1" hangingPunct="1"/>
            <a:r>
              <a:rPr lang="en-US" altLang="en-US" dirty="0" err="1"/>
              <a:t>nMOS</a:t>
            </a:r>
            <a:r>
              <a:rPr lang="en-US" altLang="en-US" dirty="0"/>
              <a:t> pass strong 0</a:t>
            </a:r>
          </a:p>
          <a:p>
            <a:pPr lvl="1" eaLnBrk="1" hangingPunct="1"/>
            <a:r>
              <a:rPr lang="en-US" altLang="en-US" dirty="0"/>
              <a:t>But degraded or weak 1</a:t>
            </a:r>
          </a:p>
          <a:p>
            <a:pPr eaLnBrk="1" hangingPunct="1"/>
            <a:r>
              <a:rPr lang="en-US" altLang="en-US" dirty="0" err="1"/>
              <a:t>pMOS</a:t>
            </a:r>
            <a:r>
              <a:rPr lang="en-US" altLang="en-US" dirty="0"/>
              <a:t> pass strong 1</a:t>
            </a:r>
          </a:p>
          <a:p>
            <a:pPr lvl="1" eaLnBrk="1" hangingPunct="1"/>
            <a:r>
              <a:rPr lang="en-US" altLang="en-US" dirty="0"/>
              <a:t>But degraded or weak 0</a:t>
            </a:r>
          </a:p>
          <a:p>
            <a:pPr eaLnBrk="1" hangingPunct="1"/>
            <a:r>
              <a:rPr lang="en-US" altLang="en-US" dirty="0"/>
              <a:t>Thus </a:t>
            </a:r>
            <a:r>
              <a:rPr lang="en-US" altLang="en-US" dirty="0" err="1"/>
              <a:t>nMOS</a:t>
            </a:r>
            <a:r>
              <a:rPr lang="en-US" altLang="en-US" dirty="0"/>
              <a:t> are best for pull-down network</a:t>
            </a: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637FAA-78F4-A2D2-B42C-D208FE4660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65EEFF92-BA01-EA27-335F-32FBFBE1AF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D00DFF-8757-4794-BE4E-F4D0448151B0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C177DC35-266C-F0DF-474A-49AEE227A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Pass Transistors</a:t>
            </a: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363CD0F7-495A-4BD1-DC6D-E4929C12F6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5791200" cy="4572000"/>
          </a:xfrm>
        </p:spPr>
        <p:txBody>
          <a:bodyPr/>
          <a:lstStyle/>
          <a:p>
            <a:pPr eaLnBrk="1" hangingPunct="1"/>
            <a:r>
              <a:rPr lang="en-US" altLang="en-US" sz="2000"/>
              <a:t>Transistors can be used as switches</a:t>
            </a:r>
          </a:p>
        </p:txBody>
      </p:sp>
      <p:graphicFrame>
        <p:nvGraphicFramePr>
          <p:cNvPr id="135172" name="Object 4">
            <a:extLst>
              <a:ext uri="{FF2B5EF4-FFF2-40B4-BE49-F238E27FC236}">
                <a16:creationId xmlns:a16="http://schemas.microsoft.com/office/drawing/2014/main" id="{CCF00AB0-1285-5FD4-E43C-4A49AAC4B2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057400"/>
          <a:ext cx="7543800" cy="366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250593" imgH="1578831" progId="Visio.Drawing.11">
                  <p:embed/>
                </p:oleObj>
              </mc:Choice>
              <mc:Fallback>
                <p:oleObj name="Visio" r:id="rId3" imgW="3250593" imgH="157883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057400"/>
                        <a:ext cx="7543800" cy="366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>
            <a:extLst>
              <a:ext uri="{FF2B5EF4-FFF2-40B4-BE49-F238E27FC236}">
                <a16:creationId xmlns:a16="http://schemas.microsoft.com/office/drawing/2014/main" id="{3DD6E337-8C75-6CDB-F237-9D365CE32E1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838200" y="2286000"/>
          <a:ext cx="925513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70730" imgH="1194187" progId="Visio.Drawing.11">
                  <p:embed/>
                </p:oleObj>
              </mc:Choice>
              <mc:Fallback>
                <p:oleObj name="Visio" r:id="rId5" imgW="370730" imgH="1194187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0"/>
                        <a:ext cx="925513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C579239-3AB7-9366-0D68-DA0404CD15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45059" name="Slide Number Placeholder 4">
            <a:extLst>
              <a:ext uri="{FF2B5EF4-FFF2-40B4-BE49-F238E27FC236}">
                <a16:creationId xmlns:a16="http://schemas.microsoft.com/office/drawing/2014/main" id="{A5D9425D-EC93-FF78-5756-9A9F9AC61A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CA56B4-B0A7-454D-A0DE-03F974194D5F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DBE38683-05B6-8ADC-B50E-B6819CEDA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Transmission Gates</a:t>
            </a: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1C4207B5-2279-2BA8-6B91-20A915DAD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Pass transistors produce degraded outputs</a:t>
            </a:r>
          </a:p>
          <a:p>
            <a:pPr eaLnBrk="1" hangingPunct="1"/>
            <a:r>
              <a:rPr lang="en-US" altLang="en-US" i="1" dirty="0"/>
              <a:t>Transmission gates</a:t>
            </a:r>
            <a:r>
              <a:rPr lang="en-US" altLang="en-US" dirty="0"/>
              <a:t> pass both 0 and 1 well</a:t>
            </a:r>
          </a:p>
        </p:txBody>
      </p:sp>
      <p:graphicFrame>
        <p:nvGraphicFramePr>
          <p:cNvPr id="136196" name="Object 4">
            <a:extLst>
              <a:ext uri="{FF2B5EF4-FFF2-40B4-BE49-F238E27FC236}">
                <a16:creationId xmlns:a16="http://schemas.microsoft.com/office/drawing/2014/main" id="{52BF94F3-97C6-0935-1611-6DB8629F6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514600"/>
          <a:ext cx="6705600" cy="344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74492" imgH="1632204" progId="Visio.Drawing.6">
                  <p:embed/>
                </p:oleObj>
              </mc:Choice>
              <mc:Fallback>
                <p:oleObj name="VISIO" r:id="rId3" imgW="3174492" imgH="163220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14600"/>
                        <a:ext cx="6705600" cy="344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B6FC8A8-B843-883C-D556-B6C09E38FF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47107" name="Slide Number Placeholder 4">
            <a:extLst>
              <a:ext uri="{FF2B5EF4-FFF2-40B4-BE49-F238E27FC236}">
                <a16:creationId xmlns:a16="http://schemas.microsoft.com/office/drawing/2014/main" id="{BA3C0257-F0EF-C56C-8FF0-D005D3E930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4B6B35-0CC3-43A1-B24C-EB0B2843034B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1E950CE4-234F-0C77-7392-7E9374AA0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Tristates</a:t>
            </a: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16388ED7-D0FE-8418-FE3B-B058272B8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Tristate buffer</a:t>
            </a:r>
            <a:r>
              <a:rPr lang="en-US" altLang="en-US"/>
              <a:t> produces Z when not enabled</a:t>
            </a:r>
          </a:p>
        </p:txBody>
      </p:sp>
      <p:graphicFrame>
        <p:nvGraphicFramePr>
          <p:cNvPr id="152580" name="Group 4">
            <a:extLst>
              <a:ext uri="{FF2B5EF4-FFF2-40B4-BE49-F238E27FC236}">
                <a16:creationId xmlns:a16="http://schemas.microsoft.com/office/drawing/2014/main" id="{33C84B0F-C392-5984-DCE9-3C94100C9871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514600"/>
          <a:ext cx="2667000" cy="203200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136" name="Object 30">
            <a:extLst>
              <a:ext uri="{FF2B5EF4-FFF2-40B4-BE49-F238E27FC236}">
                <a16:creationId xmlns:a16="http://schemas.microsoft.com/office/drawing/2014/main" id="{D9319845-CCD9-E4AA-E2F0-CABF23B99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133600"/>
          <a:ext cx="1960563" cy="368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58952" imgH="1424940" progId="Visio.Drawing.6">
                  <p:embed/>
                </p:oleObj>
              </mc:Choice>
              <mc:Fallback>
                <p:oleObj name="VISIO" r:id="rId3" imgW="758952" imgH="1424940" progId="Visio.Drawing.6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133600"/>
                        <a:ext cx="1960563" cy="368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607" name="Rectangle 31">
            <a:extLst>
              <a:ext uri="{FF2B5EF4-FFF2-40B4-BE49-F238E27FC236}">
                <a16:creationId xmlns:a16="http://schemas.microsoft.com/office/drawing/2014/main" id="{4EF4A092-9D9F-84A7-AD00-D7F1AF5B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971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608" name="Rectangle 32">
            <a:extLst>
              <a:ext uri="{FF2B5EF4-FFF2-40B4-BE49-F238E27FC236}">
                <a16:creationId xmlns:a16="http://schemas.microsoft.com/office/drawing/2014/main" id="{3B3D8AD6-D246-C80C-627E-E2C0ABC00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609" name="Rectangle 33">
            <a:extLst>
              <a:ext uri="{FF2B5EF4-FFF2-40B4-BE49-F238E27FC236}">
                <a16:creationId xmlns:a16="http://schemas.microsoft.com/office/drawing/2014/main" id="{EE5B44FE-E856-C1FE-D3C2-7970567A6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10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610" name="Rectangle 34">
            <a:extLst>
              <a:ext uri="{FF2B5EF4-FFF2-40B4-BE49-F238E27FC236}">
                <a16:creationId xmlns:a16="http://schemas.microsoft.com/office/drawing/2014/main" id="{C4C548DF-5203-0A9A-9C45-DB294428D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191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2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52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526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52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07" grpId="0" animBg="1"/>
      <p:bldP spid="152608" grpId="0" animBg="1"/>
      <p:bldP spid="152609" grpId="0" animBg="1"/>
      <p:bldP spid="1526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1050D6C-B586-7663-7FF5-CC177EC7BF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49155" name="Slide Number Placeholder 4">
            <a:extLst>
              <a:ext uri="{FF2B5EF4-FFF2-40B4-BE49-F238E27FC236}">
                <a16:creationId xmlns:a16="http://schemas.microsoft.com/office/drawing/2014/main" id="{0FE77D69-C9FA-552D-E515-082BA762EAF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8B78A4-A4DE-4C6E-A141-1A7CE2DE0910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79D364EA-C39E-03B1-A376-D3228E86F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Nonrestoring</a:t>
            </a:r>
            <a:r>
              <a:rPr lang="en-US" altLang="en-US" dirty="0"/>
              <a:t> Tristate</a:t>
            </a: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414461BD-AEAB-5FB9-4045-132B2A17B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Transmission gate acts as tristate buffer</a:t>
            </a:r>
          </a:p>
          <a:p>
            <a:pPr lvl="1" eaLnBrk="1" hangingPunct="1"/>
            <a:r>
              <a:rPr lang="en-US" altLang="en-US" dirty="0"/>
              <a:t>Only two transistors</a:t>
            </a:r>
          </a:p>
          <a:p>
            <a:pPr lvl="1" eaLnBrk="1" hangingPunct="1"/>
            <a:r>
              <a:rPr lang="en-US" altLang="en-US" dirty="0"/>
              <a:t>But </a:t>
            </a:r>
            <a:r>
              <a:rPr lang="en-US" altLang="en-US" i="1" dirty="0" err="1"/>
              <a:t>nonrestoring</a:t>
            </a:r>
            <a:endParaRPr lang="en-US" altLang="en-US" i="1" dirty="0"/>
          </a:p>
          <a:p>
            <a:pPr lvl="2" eaLnBrk="1" hangingPunct="1"/>
            <a:r>
              <a:rPr lang="en-US" altLang="en-US" dirty="0"/>
              <a:t>Noise on A is passed on to Y</a:t>
            </a:r>
          </a:p>
        </p:txBody>
      </p:sp>
      <p:graphicFrame>
        <p:nvGraphicFramePr>
          <p:cNvPr id="49158" name="Object 4">
            <a:extLst>
              <a:ext uri="{FF2B5EF4-FFF2-40B4-BE49-F238E27FC236}">
                <a16:creationId xmlns:a16="http://schemas.microsoft.com/office/drawing/2014/main" id="{2750AD77-1E0B-3023-5DC6-58465ABE5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352800"/>
          <a:ext cx="187007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66344" imgH="662940" progId="Visio.Drawing.6">
                  <p:embed/>
                </p:oleObj>
              </mc:Choice>
              <mc:Fallback>
                <p:oleObj name="VISIO" r:id="rId3" imgW="466344" imgH="66294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352800"/>
                        <a:ext cx="187007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659A72E-6316-6DA4-38BB-07AB9CB43A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1203" name="Slide Number Placeholder 4">
            <a:extLst>
              <a:ext uri="{FF2B5EF4-FFF2-40B4-BE49-F238E27FC236}">
                <a16:creationId xmlns:a16="http://schemas.microsoft.com/office/drawing/2014/main" id="{9E29D740-FB86-F1D6-ADA9-9DA2EEC117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B76F2D-1DF8-487A-8728-F570DDA6A946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474657E-5B62-81F4-B6A0-EDA1F7A4C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Tristate Inverter</a:t>
            </a: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6238D41-3724-A564-760F-3C2D92883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Tristate inverter produces restored output</a:t>
            </a:r>
          </a:p>
          <a:p>
            <a:pPr lvl="1" eaLnBrk="1" hangingPunct="1"/>
            <a:r>
              <a:rPr lang="en-US" altLang="en-US" dirty="0"/>
              <a:t>Violates conduction complement rule</a:t>
            </a:r>
          </a:p>
          <a:p>
            <a:pPr lvl="1" eaLnBrk="1" hangingPunct="1"/>
            <a:r>
              <a:rPr lang="en-US" altLang="en-US" dirty="0"/>
              <a:t>Because we want a Z output</a:t>
            </a:r>
          </a:p>
        </p:txBody>
      </p:sp>
      <p:graphicFrame>
        <p:nvGraphicFramePr>
          <p:cNvPr id="51206" name="Object 4">
            <a:extLst>
              <a:ext uri="{FF2B5EF4-FFF2-40B4-BE49-F238E27FC236}">
                <a16:creationId xmlns:a16="http://schemas.microsoft.com/office/drawing/2014/main" id="{D172ADD4-6F48-98A9-03CE-46D3122D4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895600"/>
          <a:ext cx="5791200" cy="303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630612" imgH="1375404" progId="Visio.Drawing.6">
                  <p:embed/>
                </p:oleObj>
              </mc:Choice>
              <mc:Fallback>
                <p:oleObj name="VISIO" r:id="rId3" imgW="2630612" imgH="137540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95600"/>
                        <a:ext cx="5791200" cy="303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75FBE19-4F3B-0C17-A936-E9CBD4D60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725" y="3810000"/>
            <a:ext cx="7772400" cy="685800"/>
          </a:xfrm>
        </p:spPr>
        <p:txBody>
          <a:bodyPr/>
          <a:lstStyle/>
          <a:p>
            <a:r>
              <a:rPr lang="en-GB" altLang="en-US"/>
              <a:t>HET</a:t>
            </a: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EB9CC-1DD9-F283-1D97-FC15041D7C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3252" name="Slide Number Placeholder 4">
            <a:extLst>
              <a:ext uri="{FF2B5EF4-FFF2-40B4-BE49-F238E27FC236}">
                <a16:creationId xmlns:a16="http://schemas.microsoft.com/office/drawing/2014/main" id="{5BD3FE3F-EB9B-B10B-D865-E1F95197CD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6375" y="6291263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3B2680-DA6F-4D7A-8386-CE5A61DD2EF6}" type="slidenum">
              <a:rPr lang="en-US" altLang="en-US" sz="1400">
                <a:solidFill>
                  <a:srgbClr val="0000FF"/>
                </a:solidFill>
                <a:latin typeface="Arial" panose="020B0604020202020204" pitchFamily="34" charset="0"/>
              </a:rPr>
              <a:pPr/>
              <a:t>26</a:t>
            </a:fld>
            <a:endParaRPr lang="en-US" altLang="en-US" sz="14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4B22-FBED-0982-C002-53F42113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BÀI</a:t>
            </a:r>
            <a:r>
              <a:rPr lang="en-GB" dirty="0"/>
              <a:t> </a:t>
            </a:r>
            <a:r>
              <a:rPr lang="en-GB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DB295-2A1D-51F1-77EC-E90F63F4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Câu</a:t>
            </a:r>
            <a:r>
              <a:rPr lang="en-GB" dirty="0"/>
              <a:t> 1: </a:t>
            </a:r>
            <a:r>
              <a:rPr lang="en-GB" dirty="0" err="1"/>
              <a:t>AOI22</a:t>
            </a:r>
            <a:r>
              <a:rPr lang="en-GB" dirty="0"/>
              <a:t>? Quy </a:t>
            </a:r>
            <a:r>
              <a:rPr lang="en-GB" dirty="0" err="1"/>
              <a:t>tắc</a:t>
            </a:r>
            <a:r>
              <a:rPr lang="en-GB" dirty="0"/>
              <a:t> </a:t>
            </a: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theo</a:t>
            </a:r>
            <a:r>
              <a:rPr lang="en-GB" dirty="0"/>
              <a:t> </a:t>
            </a:r>
            <a:r>
              <a:rPr lang="en-GB" dirty="0" err="1"/>
              <a:t>dạng</a:t>
            </a:r>
            <a:r>
              <a:rPr lang="en-GB" dirty="0"/>
              <a:t> </a:t>
            </a:r>
            <a:r>
              <a:rPr lang="en-GB" dirty="0" err="1"/>
              <a:t>này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Câu</a:t>
            </a:r>
            <a:r>
              <a:rPr lang="en-GB" dirty="0"/>
              <a:t> 2: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427B1-FD41-0A59-5B82-75F0B122DF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CD434-12A2-03F8-E1D4-BA84CB8863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B161CE-4247-4EC5-99CB-71DC99E4A6C8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297EEF65-677E-A0B3-621B-E999916C5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817159"/>
              </p:ext>
            </p:extLst>
          </p:nvPr>
        </p:nvGraphicFramePr>
        <p:xfrm>
          <a:off x="1752600" y="3149600"/>
          <a:ext cx="26003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170" imgH="241195" progId="Equation.DSMT4">
                  <p:embed/>
                </p:oleObj>
              </mc:Choice>
              <mc:Fallback>
                <p:oleObj name="Equation" r:id="rId2" imgW="990170" imgH="241195" progId="Equation.DSMT4">
                  <p:embed/>
                  <p:pic>
                    <p:nvPicPr>
                      <p:cNvPr id="38918" name="Object 4">
                        <a:extLst>
                          <a:ext uri="{FF2B5EF4-FFF2-40B4-BE49-F238E27FC236}">
                            <a16:creationId xmlns:a16="http://schemas.microsoft.com/office/drawing/2014/main" id="{E05B3564-394F-8486-7209-16BCD65739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49600"/>
                        <a:ext cx="26003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2066120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ooter Placeholder 3">
            <a:extLst>
              <a:ext uri="{FF2B5EF4-FFF2-40B4-BE49-F238E27FC236}">
                <a16:creationId xmlns:a16="http://schemas.microsoft.com/office/drawing/2014/main" id="{164370D6-F839-34E5-0A1D-9812B9633E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4275" name="Slide Number Placeholder 4">
            <a:extLst>
              <a:ext uri="{FF2B5EF4-FFF2-40B4-BE49-F238E27FC236}">
                <a16:creationId xmlns:a16="http://schemas.microsoft.com/office/drawing/2014/main" id="{8055CCB7-D953-F7CD-F9CC-A14C9347CD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ADFE8D-75B3-4651-B808-D104C7CEC44E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BEB8A269-880E-9B45-67F0-728CF4440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Multiplexers</a:t>
            </a: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934FEA7C-5050-86F4-E176-A826E931E9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2:1 multiplexer chooses between two inputs</a:t>
            </a:r>
          </a:p>
        </p:txBody>
      </p:sp>
      <p:graphicFrame>
        <p:nvGraphicFramePr>
          <p:cNvPr id="153604" name="Group 4">
            <a:extLst>
              <a:ext uri="{FF2B5EF4-FFF2-40B4-BE49-F238E27FC236}">
                <a16:creationId xmlns:a16="http://schemas.microsoft.com/office/drawing/2014/main" id="{479C0466-0F63-DDE7-5FCE-89D4212ED85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19400"/>
          <a:ext cx="4038600" cy="2184402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4310" name="Object 36">
            <a:extLst>
              <a:ext uri="{FF2B5EF4-FFF2-40B4-BE49-F238E27FC236}">
                <a16:creationId xmlns:a16="http://schemas.microsoft.com/office/drawing/2014/main" id="{D02A7F43-CF1E-980A-FDF9-7199199A77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2362200"/>
          <a:ext cx="28194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72312" imgH="752856" progId="Visio.Drawing.6">
                  <p:embed/>
                </p:oleObj>
              </mc:Choice>
              <mc:Fallback>
                <p:oleObj name="VISIO" r:id="rId3" imgW="972312" imgH="752856" progId="Visio.Drawing.6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362200"/>
                        <a:ext cx="28194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8" name="Rectangle 38">
            <a:extLst>
              <a:ext uri="{FF2B5EF4-FFF2-40B4-BE49-F238E27FC236}">
                <a16:creationId xmlns:a16="http://schemas.microsoft.com/office/drawing/2014/main" id="{E0038891-6244-3232-6A4F-964CE41BB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39" name="Rectangle 39">
            <a:extLst>
              <a:ext uri="{FF2B5EF4-FFF2-40B4-BE49-F238E27FC236}">
                <a16:creationId xmlns:a16="http://schemas.microsoft.com/office/drawing/2014/main" id="{37F5D34F-A5B3-04AE-AE48-1F99D4E54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733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40" name="Rectangle 40">
            <a:extLst>
              <a:ext uri="{FF2B5EF4-FFF2-40B4-BE49-F238E27FC236}">
                <a16:creationId xmlns:a16="http://schemas.microsoft.com/office/drawing/2014/main" id="{248B8B20-CD3D-BB3D-84F1-6E5A3C829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191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41" name="Rectangle 41">
            <a:extLst>
              <a:ext uri="{FF2B5EF4-FFF2-40B4-BE49-F238E27FC236}">
                <a16:creationId xmlns:a16="http://schemas.microsoft.com/office/drawing/2014/main" id="{AC7A01CE-D215-98F6-DFB3-C874EB528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572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36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53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53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53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8" grpId="0" animBg="1"/>
      <p:bldP spid="153639" grpId="0" animBg="1"/>
      <p:bldP spid="153640" grpId="0" animBg="1"/>
      <p:bldP spid="1536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5DC3F6B-0534-8DC8-5663-F0F0734B83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6323" name="Slide Number Placeholder 4">
            <a:extLst>
              <a:ext uri="{FF2B5EF4-FFF2-40B4-BE49-F238E27FC236}">
                <a16:creationId xmlns:a16="http://schemas.microsoft.com/office/drawing/2014/main" id="{DD51D040-5C92-9E99-5367-C7BE87615A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58416C-DF0B-480D-8A9A-F17D9CB49B2B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32D6ACDC-A0F9-5483-2227-32E8544AB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Gate-Level Mux Design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A4BE680B-F005-4B90-0428-CD2A8F217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How many transistors are needed? </a:t>
            </a:r>
            <a:r>
              <a:rPr lang="en-US" altLang="en-US">
                <a:solidFill>
                  <a:srgbClr val="0000FF"/>
                </a:solidFill>
              </a:rPr>
              <a:t>20</a:t>
            </a:r>
          </a:p>
        </p:txBody>
      </p:sp>
      <p:graphicFrame>
        <p:nvGraphicFramePr>
          <p:cNvPr id="56326" name="Object 4">
            <a:extLst>
              <a:ext uri="{FF2B5EF4-FFF2-40B4-BE49-F238E27FC236}">
                <a16:creationId xmlns:a16="http://schemas.microsoft.com/office/drawing/2014/main" id="{DE28FCED-66C6-5C49-E090-5BCC1140F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447800"/>
          <a:ext cx="50339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6868" imgH="215806" progId="Equation.DSMT4">
                  <p:embed/>
                </p:oleObj>
              </mc:Choice>
              <mc:Fallback>
                <p:oleObj name="Equation" r:id="rId3" imgW="1916868" imgH="21580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50339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5">
            <a:extLst>
              <a:ext uri="{FF2B5EF4-FFF2-40B4-BE49-F238E27FC236}">
                <a16:creationId xmlns:a16="http://schemas.microsoft.com/office/drawing/2014/main" id="{A677B7D2-2B56-72C2-7136-335EE03D1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667000"/>
          <a:ext cx="6629400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089148" imgH="1516380" progId="Visio.Drawing.6">
                  <p:embed/>
                </p:oleObj>
              </mc:Choice>
              <mc:Fallback>
                <p:oleObj name="VISIO" r:id="rId5" imgW="3089148" imgH="151638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667000"/>
                        <a:ext cx="6629400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4" name="Rectangle 6">
            <a:extLst>
              <a:ext uri="{FF2B5EF4-FFF2-40B4-BE49-F238E27FC236}">
                <a16:creationId xmlns:a16="http://schemas.microsoft.com/office/drawing/2014/main" id="{28C64341-E2A5-4C05-16EB-DB468DDC3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0574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0775" name="Rectangle 7">
            <a:extLst>
              <a:ext uri="{FF2B5EF4-FFF2-40B4-BE49-F238E27FC236}">
                <a16:creationId xmlns:a16="http://schemas.microsoft.com/office/drawing/2014/main" id="{A40D953B-832E-EBE6-B4CA-7EB04048C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5943600" cy="3352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4" grpId="0" animBg="1"/>
      <p:bldP spid="16077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1C0BDD1-2301-ED41-87B4-5B5739575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58371" name="Slide Number Placeholder 4">
            <a:extLst>
              <a:ext uri="{FF2B5EF4-FFF2-40B4-BE49-F238E27FC236}">
                <a16:creationId xmlns:a16="http://schemas.microsoft.com/office/drawing/2014/main" id="{68BE2EB5-92BA-7B94-0B3F-BB56500B03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FC78F7-0F55-4B4C-A9A1-B1994C5A5225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58372" name="Rectangle 1026">
            <a:extLst>
              <a:ext uri="{FF2B5EF4-FFF2-40B4-BE49-F238E27FC236}">
                <a16:creationId xmlns:a16="http://schemas.microsoft.com/office/drawing/2014/main" id="{C09ECBF4-A629-9386-CD16-E0FA98D0D4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Transmission Gate Mux</a:t>
            </a:r>
          </a:p>
        </p:txBody>
      </p:sp>
      <p:sp>
        <p:nvSpPr>
          <p:cNvPr id="58373" name="Rectangle 1027">
            <a:extLst>
              <a:ext uri="{FF2B5EF4-FFF2-40B4-BE49-F238E27FC236}">
                <a16:creationId xmlns:a16="http://schemas.microsoft.com/office/drawing/2014/main" id="{E643ACD2-FB8D-F3A1-0566-9651B83B2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Nonrestoring mux uses two transmission gates</a:t>
            </a:r>
          </a:p>
          <a:p>
            <a:pPr lvl="1" eaLnBrk="1" hangingPunct="1"/>
            <a:r>
              <a:rPr lang="en-US" altLang="en-US"/>
              <a:t>Only 4 transistors</a:t>
            </a:r>
          </a:p>
        </p:txBody>
      </p:sp>
      <p:graphicFrame>
        <p:nvGraphicFramePr>
          <p:cNvPr id="58374" name="Object 1028">
            <a:extLst>
              <a:ext uri="{FF2B5EF4-FFF2-40B4-BE49-F238E27FC236}">
                <a16:creationId xmlns:a16="http://schemas.microsoft.com/office/drawing/2014/main" id="{E8D5D529-2213-4295-CDC4-CFB79A850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2133600"/>
          <a:ext cx="3246438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41832" imgH="1082040" progId="Visio.Drawing.6">
                  <p:embed/>
                </p:oleObj>
              </mc:Choice>
              <mc:Fallback>
                <p:oleObj name="VISIO" r:id="rId3" imgW="941832" imgH="1082040" progId="Visio.Drawing.6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133600"/>
                        <a:ext cx="3246438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8E0880E-DB12-50BA-B4D9-AD899152B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0419" name="Slide Number Placeholder 4">
            <a:extLst>
              <a:ext uri="{FF2B5EF4-FFF2-40B4-BE49-F238E27FC236}">
                <a16:creationId xmlns:a16="http://schemas.microsoft.com/office/drawing/2014/main" id="{09B501ED-4326-8170-5C73-CA3DB49A5B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CC8AFC-410E-4322-8B1B-CD8C1861A44D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DDD53762-DE06-8C50-7D87-D42CF7F57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Inverting Mux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2346DE62-0ABC-1CE4-F425-AC6E101AD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Inverting multiplexer</a:t>
            </a:r>
          </a:p>
          <a:p>
            <a:pPr lvl="1" eaLnBrk="1" hangingPunct="1"/>
            <a:r>
              <a:rPr lang="en-US" altLang="en-US"/>
              <a:t>Use compound AOI22</a:t>
            </a:r>
          </a:p>
          <a:p>
            <a:pPr lvl="1" eaLnBrk="1" hangingPunct="1"/>
            <a:r>
              <a:rPr lang="en-US" altLang="en-US"/>
              <a:t>Or pair of tristate inverters</a:t>
            </a:r>
          </a:p>
          <a:p>
            <a:pPr lvl="1" eaLnBrk="1" hangingPunct="1"/>
            <a:r>
              <a:rPr lang="en-US" altLang="en-US"/>
              <a:t>Essentially the same thing</a:t>
            </a:r>
          </a:p>
          <a:p>
            <a:pPr eaLnBrk="1" hangingPunct="1"/>
            <a:r>
              <a:rPr lang="en-US" altLang="en-US"/>
              <a:t>Noninverting multiplexer adds an inverter</a:t>
            </a:r>
          </a:p>
        </p:txBody>
      </p:sp>
      <p:graphicFrame>
        <p:nvGraphicFramePr>
          <p:cNvPr id="60422" name="Object 4">
            <a:extLst>
              <a:ext uri="{FF2B5EF4-FFF2-40B4-BE49-F238E27FC236}">
                <a16:creationId xmlns:a16="http://schemas.microsoft.com/office/drawing/2014/main" id="{B21E0760-BC55-FBE2-1004-C78549319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669206"/>
              </p:ext>
            </p:extLst>
          </p:nvPr>
        </p:nvGraphicFramePr>
        <p:xfrm>
          <a:off x="609600" y="3846959"/>
          <a:ext cx="7924800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712373" imgH="947872" progId="Visio.Drawing.6">
                  <p:embed/>
                </p:oleObj>
              </mc:Choice>
              <mc:Fallback>
                <p:oleObj name="VISIO" r:id="rId3" imgW="3712373" imgH="947872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46959"/>
                        <a:ext cx="7924800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BA342EBD-AA4B-834E-D1A9-BC6EBAC23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851631"/>
              </p:ext>
            </p:extLst>
          </p:nvPr>
        </p:nvGraphicFramePr>
        <p:xfrm>
          <a:off x="5410200" y="1600200"/>
          <a:ext cx="3048000" cy="159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630612" imgH="1375404" progId="Visio.Drawing.6">
                  <p:embed/>
                </p:oleObj>
              </mc:Choice>
              <mc:Fallback>
                <p:oleObj name="VISIO" r:id="rId5" imgW="2630612" imgH="1375404" progId="Visio.Drawing.6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BA342EBD-AA4B-834E-D1A9-BC6EBAC232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600200"/>
                        <a:ext cx="3048000" cy="159585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46B4DF2-493A-9CDD-4A80-13F7A74F4C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2467" name="Slide Number Placeholder 4">
            <a:extLst>
              <a:ext uri="{FF2B5EF4-FFF2-40B4-BE49-F238E27FC236}">
                <a16:creationId xmlns:a16="http://schemas.microsoft.com/office/drawing/2014/main" id="{E952943A-802D-18DB-D0FA-BA9F34CAB3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C15F54-B362-459E-981B-83AD5C254B43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7CE4B3BA-E0D5-2A83-FAEA-80C2031C2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4:1 Multiplexer</a:t>
            </a:r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0D301581-AA92-AA7F-5563-7AEAD8AB6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4:1 mux chooses one of 4 inputs using two selects</a:t>
            </a:r>
          </a:p>
          <a:p>
            <a:pPr lvl="1" eaLnBrk="1" hangingPunct="1"/>
            <a:r>
              <a:rPr lang="en-US" altLang="en-US"/>
              <a:t>Two levels of 2:1 muxes</a:t>
            </a:r>
          </a:p>
          <a:p>
            <a:pPr lvl="1" eaLnBrk="1" hangingPunct="1"/>
            <a:r>
              <a:rPr lang="en-US" altLang="en-US"/>
              <a:t>Or four tristates</a:t>
            </a:r>
          </a:p>
        </p:txBody>
      </p:sp>
      <p:graphicFrame>
        <p:nvGraphicFramePr>
          <p:cNvPr id="62470" name="Object 4">
            <a:extLst>
              <a:ext uri="{FF2B5EF4-FFF2-40B4-BE49-F238E27FC236}">
                <a16:creationId xmlns:a16="http://schemas.microsoft.com/office/drawing/2014/main" id="{C24EB29E-995D-5046-465E-F1685569CA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514600"/>
          <a:ext cx="5867400" cy="341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085480" imgH="2374955" progId="Visio.Drawing.11">
                  <p:embed/>
                </p:oleObj>
              </mc:Choice>
              <mc:Fallback>
                <p:oleObj name="Visio" r:id="rId3" imgW="4085480" imgH="237495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514600"/>
                        <a:ext cx="5867400" cy="341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A1E1AAE-EB4F-E25D-B5BC-9D15EC8438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4515" name="Slide Number Placeholder 4">
            <a:extLst>
              <a:ext uri="{FF2B5EF4-FFF2-40B4-BE49-F238E27FC236}">
                <a16:creationId xmlns:a16="http://schemas.microsoft.com/office/drawing/2014/main" id="{EADA1361-AAE3-9E94-0450-07D985002F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23A3B-9B96-4963-8E1F-0AC90F1CC091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F6044483-2338-9315-89F8-1F93C4CAE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 Latch</a:t>
            </a:r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CAD77392-2D7C-6CC2-15A3-01FB8840D7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When CLK = 1, latch is </a:t>
            </a:r>
            <a:r>
              <a:rPr lang="en-US" altLang="en-US" i="1" dirty="0"/>
              <a:t>transparent</a:t>
            </a:r>
          </a:p>
          <a:p>
            <a:pPr lvl="1" eaLnBrk="1" hangingPunct="1"/>
            <a:r>
              <a:rPr lang="en-US" altLang="en-US" dirty="0"/>
              <a:t>D flows through to Q like a buffer</a:t>
            </a:r>
          </a:p>
          <a:p>
            <a:pPr eaLnBrk="1" hangingPunct="1"/>
            <a:r>
              <a:rPr lang="en-US" altLang="en-US" dirty="0"/>
              <a:t>When CLK = 0, the latch is </a:t>
            </a:r>
            <a:r>
              <a:rPr lang="en-US" altLang="en-US" i="1" dirty="0"/>
              <a:t>opaque</a:t>
            </a:r>
          </a:p>
          <a:p>
            <a:pPr lvl="1" eaLnBrk="1" hangingPunct="1"/>
            <a:r>
              <a:rPr lang="en-US" altLang="en-US" dirty="0"/>
              <a:t>Q holds its old value independent of D</a:t>
            </a:r>
          </a:p>
          <a:p>
            <a:pPr eaLnBrk="1" hangingPunct="1"/>
            <a:r>
              <a:rPr lang="en-US" altLang="en-US" dirty="0"/>
              <a:t>a.k.a. </a:t>
            </a:r>
            <a:r>
              <a:rPr lang="en-US" altLang="en-US" i="1" dirty="0"/>
              <a:t>transparent latch</a:t>
            </a:r>
            <a:r>
              <a:rPr lang="en-US" altLang="en-US" dirty="0"/>
              <a:t> or </a:t>
            </a:r>
            <a:r>
              <a:rPr lang="en-US" altLang="en-US" i="1" dirty="0"/>
              <a:t>level-sensitive latch</a:t>
            </a:r>
          </a:p>
        </p:txBody>
      </p:sp>
      <p:graphicFrame>
        <p:nvGraphicFramePr>
          <p:cNvPr id="64518" name="Object 4">
            <a:extLst>
              <a:ext uri="{FF2B5EF4-FFF2-40B4-BE49-F238E27FC236}">
                <a16:creationId xmlns:a16="http://schemas.microsoft.com/office/drawing/2014/main" id="{E430A9A9-7902-9019-F763-AD926F88E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733800"/>
          <a:ext cx="2438400" cy="226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71382" imgH="716610" progId="Visio.Drawing.6">
                  <p:embed/>
                </p:oleObj>
              </mc:Choice>
              <mc:Fallback>
                <p:oleObj name="VISIO" r:id="rId3" imgW="771382" imgH="71661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2438400" cy="226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5">
            <a:extLst>
              <a:ext uri="{FF2B5EF4-FFF2-40B4-BE49-F238E27FC236}">
                <a16:creationId xmlns:a16="http://schemas.microsoft.com/office/drawing/2014/main" id="{4206FEFF-4733-F6AB-2318-A22DA94C09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886200"/>
          <a:ext cx="4953000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377440" imgH="970788" progId="Visio.Drawing.6">
                  <p:embed/>
                </p:oleObj>
              </mc:Choice>
              <mc:Fallback>
                <p:oleObj name="VISIO" r:id="rId5" imgW="2377440" imgH="970788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86200"/>
                        <a:ext cx="4953000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5D4EEF7-A8F8-FCCD-BE36-77E34ABD0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6563" name="Slide Number Placeholder 4">
            <a:extLst>
              <a:ext uri="{FF2B5EF4-FFF2-40B4-BE49-F238E27FC236}">
                <a16:creationId xmlns:a16="http://schemas.microsoft.com/office/drawing/2014/main" id="{CEA23089-7FAC-36FC-D5BD-F8D3B65DBF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2E5A1-7089-47BB-BF27-70CDD1B493C3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C3E4F606-FF79-EF55-50C2-B7E5F37A7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 Latch Design</a:t>
            </a:r>
          </a:p>
        </p:txBody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58DB3686-FB6B-7BA1-F20A-E8E5D6F2A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Multiplexer chooses D or old Q</a:t>
            </a:r>
          </a:p>
        </p:txBody>
      </p:sp>
      <p:graphicFrame>
        <p:nvGraphicFramePr>
          <p:cNvPr id="66566" name="Object 5">
            <a:extLst>
              <a:ext uri="{FF2B5EF4-FFF2-40B4-BE49-F238E27FC236}">
                <a16:creationId xmlns:a16="http://schemas.microsoft.com/office/drawing/2014/main" id="{2C4D44D8-4713-9F91-C8CA-053121619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133600"/>
          <a:ext cx="8153400" cy="309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2528" imgH="1310640" progId="Visio.Drawing.6">
                  <p:embed/>
                </p:oleObj>
              </mc:Choice>
              <mc:Fallback>
                <p:oleObj name="VISIO" r:id="rId3" imgW="3462528" imgH="131064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133600"/>
                        <a:ext cx="8153400" cy="309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A59BF-07C6-5325-3AAD-5DCE5EE54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68611" name="Slide Number Placeholder 4">
            <a:extLst>
              <a:ext uri="{FF2B5EF4-FFF2-40B4-BE49-F238E27FC236}">
                <a16:creationId xmlns:a16="http://schemas.microsoft.com/office/drawing/2014/main" id="{21D97676-F279-3C9A-2220-3776291DDB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65F3AB-B112-4F31-A76F-562957EC4914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60101940-D79E-6988-3A9C-47455A497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 Latch Operation</a:t>
            </a:r>
          </a:p>
        </p:txBody>
      </p:sp>
      <p:graphicFrame>
        <p:nvGraphicFramePr>
          <p:cNvPr id="68613" name="Object 3">
            <a:extLst>
              <a:ext uri="{FF2B5EF4-FFF2-40B4-BE49-F238E27FC236}">
                <a16:creationId xmlns:a16="http://schemas.microsoft.com/office/drawing/2014/main" id="{007B55BA-6C43-AEB5-2410-D6EE3E0CCBD9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858838" y="1524000"/>
          <a:ext cx="7424737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32048" imgH="2110740" progId="Visio.Drawing.6">
                  <p:embed/>
                </p:oleObj>
              </mc:Choice>
              <mc:Fallback>
                <p:oleObj name="VISIO" r:id="rId3" imgW="3432048" imgH="211074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1524000"/>
                        <a:ext cx="7424737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29F418D-D57E-15C0-4849-75C0D477F2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70659" name="Slide Number Placeholder 4">
            <a:extLst>
              <a:ext uri="{FF2B5EF4-FFF2-40B4-BE49-F238E27FC236}">
                <a16:creationId xmlns:a16="http://schemas.microsoft.com/office/drawing/2014/main" id="{4D1DA5C5-E4C2-DB58-7151-285EE6EBDCA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1CA670-41E2-4445-AA56-1C7A0BAE549B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D601D77E-05B4-5D4A-2667-0309BBA22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 Flip-flop</a:t>
            </a:r>
          </a:p>
        </p:txBody>
      </p:sp>
      <p:sp>
        <p:nvSpPr>
          <p:cNvPr id="70661" name="Rectangle 3">
            <a:extLst>
              <a:ext uri="{FF2B5EF4-FFF2-40B4-BE49-F238E27FC236}">
                <a16:creationId xmlns:a16="http://schemas.microsoft.com/office/drawing/2014/main" id="{038E93E0-2232-0A99-168B-AF37FEBD62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CLK rises, D is copied to Q</a:t>
            </a:r>
          </a:p>
          <a:p>
            <a:pPr eaLnBrk="1" hangingPunct="1"/>
            <a:r>
              <a:rPr lang="en-US" altLang="en-US"/>
              <a:t>At all other times, Q holds its value</a:t>
            </a:r>
          </a:p>
          <a:p>
            <a:pPr eaLnBrk="1" hangingPunct="1"/>
            <a:r>
              <a:rPr lang="en-US" altLang="en-US"/>
              <a:t>a.k.a. </a:t>
            </a:r>
            <a:r>
              <a:rPr lang="en-US" altLang="en-US" i="1"/>
              <a:t>positive edge-triggered flip-flop</a:t>
            </a:r>
            <a:r>
              <a:rPr lang="en-US" altLang="en-US"/>
              <a:t>, </a:t>
            </a:r>
            <a:r>
              <a:rPr lang="en-US" altLang="en-US" i="1"/>
              <a:t>master-slave flip-flop</a:t>
            </a:r>
          </a:p>
        </p:txBody>
      </p:sp>
      <p:graphicFrame>
        <p:nvGraphicFramePr>
          <p:cNvPr id="70662" name="Object 4">
            <a:extLst>
              <a:ext uri="{FF2B5EF4-FFF2-40B4-BE49-F238E27FC236}">
                <a16:creationId xmlns:a16="http://schemas.microsoft.com/office/drawing/2014/main" id="{888D428D-2F0F-C04B-4AB5-4E82A0E81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4095750"/>
          <a:ext cx="19812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14400" imgH="684659" progId="Visio.Drawing.6">
                  <p:embed/>
                </p:oleObj>
              </mc:Choice>
              <mc:Fallback>
                <p:oleObj name="VISIO" r:id="rId3" imgW="914400" imgH="684659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095750"/>
                        <a:ext cx="19812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5">
            <a:extLst>
              <a:ext uri="{FF2B5EF4-FFF2-40B4-BE49-F238E27FC236}">
                <a16:creationId xmlns:a16="http://schemas.microsoft.com/office/drawing/2014/main" id="{9693C7F0-6BA6-8388-7031-A10A1D8B53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784600"/>
          <a:ext cx="5791200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948940" imgH="970788" progId="Visio.Drawing.6">
                  <p:embed/>
                </p:oleObj>
              </mc:Choice>
              <mc:Fallback>
                <p:oleObj name="VISIO" r:id="rId5" imgW="2948940" imgH="970788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84600"/>
                        <a:ext cx="5791200" cy="190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EE7AB03-87E2-A81D-9C22-8ABE282856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72707" name="Slide Number Placeholder 4">
            <a:extLst>
              <a:ext uri="{FF2B5EF4-FFF2-40B4-BE49-F238E27FC236}">
                <a16:creationId xmlns:a16="http://schemas.microsoft.com/office/drawing/2014/main" id="{CE8EDE35-9908-43D2-7425-9DEA738DA4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0E6158-B264-4F3A-8941-C059C69BB509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72708" name="Rectangle 2">
            <a:extLst>
              <a:ext uri="{FF2B5EF4-FFF2-40B4-BE49-F238E27FC236}">
                <a16:creationId xmlns:a16="http://schemas.microsoft.com/office/drawing/2014/main" id="{279D7282-0097-07F7-F602-0B5D14563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 Flip-flop Design</a:t>
            </a:r>
          </a:p>
        </p:txBody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08D71B54-316C-B088-534B-D0DAB0190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Built from master and slave D latches</a:t>
            </a:r>
          </a:p>
        </p:txBody>
      </p:sp>
      <p:graphicFrame>
        <p:nvGraphicFramePr>
          <p:cNvPr id="72710" name="Object 5">
            <a:extLst>
              <a:ext uri="{FF2B5EF4-FFF2-40B4-BE49-F238E27FC236}">
                <a16:creationId xmlns:a16="http://schemas.microsoft.com/office/drawing/2014/main" id="{9C29226A-6ECF-4332-CFBF-2A09CF2D6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362200"/>
          <a:ext cx="8077200" cy="218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503420" imgH="1216152" progId="Visio.Drawing.6">
                  <p:embed/>
                </p:oleObj>
              </mc:Choice>
              <mc:Fallback>
                <p:oleObj name="VISIO" r:id="rId3" imgW="4503420" imgH="1216152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362200"/>
                        <a:ext cx="8077200" cy="218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686B2-D015-F922-512D-0E363CF008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74755" name="Slide Number Placeholder 4">
            <a:extLst>
              <a:ext uri="{FF2B5EF4-FFF2-40B4-BE49-F238E27FC236}">
                <a16:creationId xmlns:a16="http://schemas.microsoft.com/office/drawing/2014/main" id="{2C21DE6C-031C-E1BE-3D61-4C5D92AF41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16E97E-7816-45B2-B090-229A6CF7FE8A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8D88A59A-42AE-9350-2545-54A49160C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 Flip-flop Operation</a:t>
            </a:r>
          </a:p>
        </p:txBody>
      </p:sp>
      <p:graphicFrame>
        <p:nvGraphicFramePr>
          <p:cNvPr id="74757" name="Object 3">
            <a:extLst>
              <a:ext uri="{FF2B5EF4-FFF2-40B4-BE49-F238E27FC236}">
                <a16:creationId xmlns:a16="http://schemas.microsoft.com/office/drawing/2014/main" id="{2978F74B-9231-7B8A-DE34-9D39F8FAB109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2062163" y="1524000"/>
          <a:ext cx="5018087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087624" imgH="2808732" progId="Visio.Drawing.6">
                  <p:embed/>
                </p:oleObj>
              </mc:Choice>
              <mc:Fallback>
                <p:oleObj name="VISIO" r:id="rId3" imgW="3087624" imgH="2808732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1524000"/>
                        <a:ext cx="5018087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AE27CFE-CB5A-D2A9-6B61-DAAD34233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76803" name="Slide Number Placeholder 4">
            <a:extLst>
              <a:ext uri="{FF2B5EF4-FFF2-40B4-BE49-F238E27FC236}">
                <a16:creationId xmlns:a16="http://schemas.microsoft.com/office/drawing/2014/main" id="{76B7B49B-B9ED-DEB6-7584-7573F0687B7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9AB7D3-B476-47F0-B8F8-6333C01E6AB4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5A0DD92E-390D-6634-C61F-CEAD16F68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3520F1CF-3284-34A0-DEB6-DF7A0C78E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Back-to-back flops can malfunction from clock skew</a:t>
            </a:r>
          </a:p>
          <a:p>
            <a:pPr lvl="1" eaLnBrk="1" hangingPunct="1"/>
            <a:r>
              <a:rPr lang="en-US" altLang="en-US" dirty="0"/>
              <a:t>Second flip-flop fires late</a:t>
            </a:r>
          </a:p>
          <a:p>
            <a:pPr lvl="1" eaLnBrk="1" hangingPunct="1"/>
            <a:r>
              <a:rPr lang="en-US" altLang="en-US" dirty="0"/>
              <a:t>Sees first flip-flop change and captures its result</a:t>
            </a:r>
          </a:p>
          <a:p>
            <a:pPr lvl="1" eaLnBrk="1" hangingPunct="1"/>
            <a:r>
              <a:rPr lang="en-US" altLang="en-US" dirty="0"/>
              <a:t>Called </a:t>
            </a:r>
            <a:r>
              <a:rPr lang="en-US" altLang="en-US" i="1" dirty="0"/>
              <a:t>hold-time failure</a:t>
            </a:r>
            <a:r>
              <a:rPr lang="en-US" altLang="en-US" dirty="0"/>
              <a:t> or </a:t>
            </a:r>
            <a:r>
              <a:rPr lang="en-US" altLang="en-US" i="1" dirty="0"/>
              <a:t>race condition</a:t>
            </a:r>
          </a:p>
        </p:txBody>
      </p:sp>
      <p:graphicFrame>
        <p:nvGraphicFramePr>
          <p:cNvPr id="76806" name="Object 4">
            <a:extLst>
              <a:ext uri="{FF2B5EF4-FFF2-40B4-BE49-F238E27FC236}">
                <a16:creationId xmlns:a16="http://schemas.microsoft.com/office/drawing/2014/main" id="{8D5183AA-B356-ABC9-1B28-33150EEC38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365500"/>
          <a:ext cx="8001000" cy="2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034284" imgH="967740" progId="Visio.Drawing.6">
                  <p:embed/>
                </p:oleObj>
              </mc:Choice>
              <mc:Fallback>
                <p:oleObj name="VISIO" r:id="rId3" imgW="3034284" imgH="96774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365500"/>
                        <a:ext cx="8001000" cy="255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48FB2EC-10A1-6B6C-5880-10AAD10C8B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78851" name="Slide Number Placeholder 4">
            <a:extLst>
              <a:ext uri="{FF2B5EF4-FFF2-40B4-BE49-F238E27FC236}">
                <a16:creationId xmlns:a16="http://schemas.microsoft.com/office/drawing/2014/main" id="{3387978E-635C-0C6B-2AD7-A4A8898DDE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903BE-6CF0-4850-A749-52A79AAA7FFA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7E301346-AA02-224B-D864-4AE6C7A72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Nonoverlapping Clocks</a:t>
            </a:r>
          </a:p>
        </p:txBody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225341F9-3DA9-CFDB-E56F-9ED7B6780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Nonoverlapping clocks can prevent races</a:t>
            </a:r>
          </a:p>
          <a:p>
            <a:pPr lvl="1" eaLnBrk="1" hangingPunct="1"/>
            <a:r>
              <a:rPr lang="en-US" altLang="en-US" dirty="0"/>
              <a:t>As long as nonoverlap exceeds clock skew</a:t>
            </a:r>
          </a:p>
          <a:p>
            <a:pPr eaLnBrk="1" hangingPunct="1"/>
            <a:r>
              <a:rPr lang="en-US" altLang="en-US" dirty="0"/>
              <a:t>We will use them in this class for safe design</a:t>
            </a:r>
          </a:p>
          <a:p>
            <a:pPr lvl="1" eaLnBrk="1" hangingPunct="1"/>
            <a:r>
              <a:rPr lang="en-US" altLang="en-US" dirty="0"/>
              <a:t>Industry manages skew more carefully instead </a:t>
            </a:r>
          </a:p>
        </p:txBody>
      </p:sp>
      <p:graphicFrame>
        <p:nvGraphicFramePr>
          <p:cNvPr id="78854" name="Object 4">
            <a:extLst>
              <a:ext uri="{FF2B5EF4-FFF2-40B4-BE49-F238E27FC236}">
                <a16:creationId xmlns:a16="http://schemas.microsoft.com/office/drawing/2014/main" id="{2BBCE6F3-EFE7-4C45-9531-3A64EAEEB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160831"/>
              </p:ext>
            </p:extLst>
          </p:nvPr>
        </p:nvGraphicFramePr>
        <p:xfrm>
          <a:off x="685800" y="3276600"/>
          <a:ext cx="4572000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003804" imgH="1770888" progId="Visio.Drawing.6">
                  <p:embed/>
                </p:oleObj>
              </mc:Choice>
              <mc:Fallback>
                <p:oleObj name="VISIO" r:id="rId3" imgW="3003804" imgH="177088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4572000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1DABC3AE-3A17-30B6-D6E8-71188F664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271449"/>
              </p:ext>
            </p:extLst>
          </p:nvPr>
        </p:nvGraphicFramePr>
        <p:xfrm>
          <a:off x="4572000" y="4177506"/>
          <a:ext cx="441162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503420" imgH="1216152" progId="Visio.Drawing.6">
                  <p:embed/>
                </p:oleObj>
              </mc:Choice>
              <mc:Fallback>
                <p:oleObj name="VISIO" r:id="rId5" imgW="4503420" imgH="1216152" progId="Visio.Drawing.6">
                  <p:embed/>
                  <p:pic>
                    <p:nvPicPr>
                      <p:cNvPr id="72710" name="Object 5">
                        <a:extLst>
                          <a:ext uri="{FF2B5EF4-FFF2-40B4-BE49-F238E27FC236}">
                            <a16:creationId xmlns:a16="http://schemas.microsoft.com/office/drawing/2014/main" id="{9C29226A-6ECF-4332-CFBF-2A09CF2D6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77506"/>
                        <a:ext cx="4411620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5555C-D148-D4FC-CE87-B8A89EB611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80899" name="Slide Number Placeholder 4">
            <a:extLst>
              <a:ext uri="{FF2B5EF4-FFF2-40B4-BE49-F238E27FC236}">
                <a16:creationId xmlns:a16="http://schemas.microsoft.com/office/drawing/2014/main" id="{536D7321-7395-BBA9-F2D7-3A341238D1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30665F-70E0-473C-9069-00C337E15385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8414205A-B186-4CB9-B1FF-46E26BA1A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Gate Layout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E05E4A88-B5ED-F012-46AC-E7A64F14A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Layout can be very time consuming</a:t>
            </a:r>
          </a:p>
          <a:p>
            <a:pPr lvl="1" eaLnBrk="1" hangingPunct="1"/>
            <a:r>
              <a:rPr lang="en-US" altLang="en-US" dirty="0"/>
              <a:t>Design gates to fit together nicely</a:t>
            </a:r>
          </a:p>
          <a:p>
            <a:pPr lvl="1" eaLnBrk="1" hangingPunct="1"/>
            <a:r>
              <a:rPr lang="en-US" altLang="en-US" dirty="0"/>
              <a:t>Build a library of standard cells</a:t>
            </a:r>
          </a:p>
          <a:p>
            <a:pPr eaLnBrk="1" hangingPunct="1"/>
            <a:r>
              <a:rPr lang="en-US" altLang="en-US" dirty="0"/>
              <a:t>Standard cell design methodology</a:t>
            </a:r>
          </a:p>
          <a:p>
            <a:pPr lvl="1" eaLnBrk="1" hangingPunct="1"/>
            <a:r>
              <a:rPr lang="en-US" altLang="en-US" dirty="0"/>
              <a:t>V</a:t>
            </a:r>
            <a:r>
              <a:rPr lang="en-US" altLang="en-US" baseline="-25000" dirty="0"/>
              <a:t>DD</a:t>
            </a:r>
            <a:r>
              <a:rPr lang="en-US" altLang="en-US" dirty="0"/>
              <a:t> and GND should abut (standard height)</a:t>
            </a:r>
          </a:p>
          <a:p>
            <a:pPr lvl="1" eaLnBrk="1" hangingPunct="1"/>
            <a:r>
              <a:rPr lang="en-US" altLang="en-US" dirty="0"/>
              <a:t>Adjacent gates should satisfy design rules</a:t>
            </a:r>
          </a:p>
          <a:p>
            <a:pPr lvl="1" eaLnBrk="1" hangingPunct="1"/>
            <a:r>
              <a:rPr lang="en-US" altLang="en-US" dirty="0" err="1"/>
              <a:t>nMOS</a:t>
            </a:r>
            <a:r>
              <a:rPr lang="en-US" altLang="en-US" dirty="0"/>
              <a:t> at bottom and </a:t>
            </a:r>
            <a:r>
              <a:rPr lang="en-US" altLang="en-US" dirty="0" err="1"/>
              <a:t>pMOS</a:t>
            </a:r>
            <a:r>
              <a:rPr lang="en-US" altLang="en-US" dirty="0"/>
              <a:t> at top</a:t>
            </a:r>
          </a:p>
          <a:p>
            <a:pPr lvl="1" eaLnBrk="1" hangingPunct="1"/>
            <a:r>
              <a:rPr lang="en-US" altLang="en-US" dirty="0"/>
              <a:t>All gates include well and substrate contacts</a:t>
            </a:r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E0FC5-38CF-F8C1-7F85-675C26F14A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82947" name="Slide Number Placeholder 4">
            <a:extLst>
              <a:ext uri="{FF2B5EF4-FFF2-40B4-BE49-F238E27FC236}">
                <a16:creationId xmlns:a16="http://schemas.microsoft.com/office/drawing/2014/main" id="{861160FF-C7DF-1F6C-711A-E17F0B850A9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636ED5-3D04-4C3D-B858-33A4948F6405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9B8DA7E5-51A2-B02C-37FE-F5981235C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Inverter</a:t>
            </a:r>
          </a:p>
        </p:txBody>
      </p:sp>
      <p:pic>
        <p:nvPicPr>
          <p:cNvPr id="82949" name="Picture 6">
            <a:extLst>
              <a:ext uri="{FF2B5EF4-FFF2-40B4-BE49-F238E27FC236}">
                <a16:creationId xmlns:a16="http://schemas.microsoft.com/office/drawing/2014/main" id="{6A8B3253-326F-43C5-9EA6-754BDFD51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60500"/>
            <a:ext cx="472440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1B9AB6C-8DE0-EBC6-6E63-ECF9E5BA44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84995" name="Slide Number Placeholder 4">
            <a:extLst>
              <a:ext uri="{FF2B5EF4-FFF2-40B4-BE49-F238E27FC236}">
                <a16:creationId xmlns:a16="http://schemas.microsoft.com/office/drawing/2014/main" id="{4A07BF7F-C4B4-FC36-F43D-577D810A03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CFBF63-F362-4F12-B51A-A9319D4BDA1A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12ABD17B-6EE5-3BAF-0AD9-1415C5BE3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NAND3</a:t>
            </a:r>
          </a:p>
        </p:txBody>
      </p:sp>
      <p:sp>
        <p:nvSpPr>
          <p:cNvPr id="84997" name="Rectangle 3">
            <a:extLst>
              <a:ext uri="{FF2B5EF4-FFF2-40B4-BE49-F238E27FC236}">
                <a16:creationId xmlns:a16="http://schemas.microsoft.com/office/drawing/2014/main" id="{E1145D3E-CF98-5645-6211-84FF221F6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Horizontal N-diffusion and p-diffusion strips</a:t>
            </a:r>
          </a:p>
          <a:p>
            <a:pPr eaLnBrk="1" hangingPunct="1"/>
            <a:r>
              <a:rPr lang="en-US" altLang="en-US"/>
              <a:t>Vertical polysilicon gates</a:t>
            </a:r>
          </a:p>
          <a:p>
            <a:pPr eaLnBrk="1" hangingPunct="1"/>
            <a:r>
              <a:rPr lang="en-US" altLang="en-US"/>
              <a:t>Metal1 V</a:t>
            </a:r>
            <a:r>
              <a:rPr lang="en-US" altLang="en-US" baseline="-25000"/>
              <a:t>DD</a:t>
            </a:r>
            <a:r>
              <a:rPr lang="en-US" altLang="en-US"/>
              <a:t> rail at top</a:t>
            </a:r>
          </a:p>
          <a:p>
            <a:pPr eaLnBrk="1" hangingPunct="1"/>
            <a:r>
              <a:rPr lang="en-US" altLang="en-US"/>
              <a:t>Metal1 GND rail at bottom</a:t>
            </a:r>
          </a:p>
          <a:p>
            <a:pPr eaLnBrk="1" hangingPunct="1"/>
            <a:r>
              <a:rPr lang="en-US" altLang="en-US"/>
              <a:t>32 </a:t>
            </a:r>
            <a:r>
              <a:rPr lang="en-US" altLang="en-US">
                <a:latin typeface="Symbol" panose="05050102010706020507" pitchFamily="18" charset="2"/>
              </a:rPr>
              <a:t>l</a:t>
            </a:r>
            <a:r>
              <a:rPr lang="en-US" altLang="en-US"/>
              <a:t> by 40 </a:t>
            </a:r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pic>
        <p:nvPicPr>
          <p:cNvPr id="84998" name="Picture 4">
            <a:extLst>
              <a:ext uri="{FF2B5EF4-FFF2-40B4-BE49-F238E27FC236}">
                <a16:creationId xmlns:a16="http://schemas.microsoft.com/office/drawing/2014/main" id="{84958CC9-10DE-EB89-00DF-EE748A2F0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05000"/>
            <a:ext cx="36226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F0A8951-7BAB-6B39-AC9E-791CE60EA9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87043" name="Slide Number Placeholder 4">
            <a:extLst>
              <a:ext uri="{FF2B5EF4-FFF2-40B4-BE49-F238E27FC236}">
                <a16:creationId xmlns:a16="http://schemas.microsoft.com/office/drawing/2014/main" id="{B8C62AEF-0E95-8B89-62C0-787B5E6B5B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FECC8D-7B4C-46FC-984B-593AF18AAE60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7BEC34AC-CF37-0956-D692-FD3B03BE0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Stick Diagrams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221EB605-8DC1-0DD4-21DB-7364C8BCA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Stick diagrams</a:t>
            </a:r>
            <a:r>
              <a:rPr lang="en-US" altLang="en-US"/>
              <a:t> help plan layout quickly</a:t>
            </a:r>
          </a:p>
          <a:p>
            <a:pPr lvl="1" eaLnBrk="1" hangingPunct="1"/>
            <a:r>
              <a:rPr lang="en-US" altLang="en-US"/>
              <a:t>Need not be to scale</a:t>
            </a:r>
          </a:p>
          <a:p>
            <a:pPr lvl="1" eaLnBrk="1" hangingPunct="1"/>
            <a:r>
              <a:rPr lang="en-US" altLang="en-US"/>
              <a:t>Draw with color pencils or dry-erase markers</a:t>
            </a:r>
          </a:p>
        </p:txBody>
      </p:sp>
      <p:sp>
        <p:nvSpPr>
          <p:cNvPr id="87046" name="Rectangle 7">
            <a:extLst>
              <a:ext uri="{FF2B5EF4-FFF2-40B4-BE49-F238E27FC236}">
                <a16:creationId xmlns:a16="http://schemas.microsoft.com/office/drawing/2014/main" id="{6074DC6D-BD63-4E5F-2D05-DC819CB26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0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87047" name="Object 6">
            <a:extLst>
              <a:ext uri="{FF2B5EF4-FFF2-40B4-BE49-F238E27FC236}">
                <a16:creationId xmlns:a16="http://schemas.microsoft.com/office/drawing/2014/main" id="{EEF9EED1-C801-9623-9AA2-0818AC705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971800"/>
          <a:ext cx="7696200" cy="282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858123" imgH="2148840" progId="Visio.Drawing.11">
                  <p:embed/>
                </p:oleObj>
              </mc:Choice>
              <mc:Fallback>
                <p:oleObj name="Visio" r:id="rId3" imgW="5858123" imgH="214884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971800"/>
                        <a:ext cx="7696200" cy="282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7AC764C-7D74-8B1E-86E4-A139088027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89091" name="Slide Number Placeholder 4">
            <a:extLst>
              <a:ext uri="{FF2B5EF4-FFF2-40B4-BE49-F238E27FC236}">
                <a16:creationId xmlns:a16="http://schemas.microsoft.com/office/drawing/2014/main" id="{8B82B216-AEA9-EEEF-36E0-61CD46D5962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CB9678-0122-4A60-97A5-CA2F2388F31D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F2EDDF00-71C6-3A31-DC56-A4CF52B00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Wiring Tracks</a:t>
            </a:r>
          </a:p>
        </p:txBody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F123EE15-0A2E-3FDA-EAAA-6AB4BBE78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wiring track</a:t>
            </a:r>
            <a:r>
              <a:rPr lang="en-US" altLang="en-US"/>
              <a:t> is the space required for a wire</a:t>
            </a:r>
          </a:p>
          <a:p>
            <a:pPr lvl="1" eaLnBrk="1" hangingPunct="1"/>
            <a:r>
              <a:rPr lang="en-US" altLang="en-US"/>
              <a:t>4 </a:t>
            </a:r>
            <a:r>
              <a:rPr lang="en-US" altLang="en-US">
                <a:latin typeface="Symbol" panose="05050102010706020507" pitchFamily="18" charset="2"/>
              </a:rPr>
              <a:t>l</a:t>
            </a:r>
            <a:r>
              <a:rPr lang="en-US" altLang="en-US"/>
              <a:t> width, 4 </a:t>
            </a:r>
            <a:r>
              <a:rPr lang="en-US" altLang="en-US">
                <a:latin typeface="Symbol" panose="05050102010706020507" pitchFamily="18" charset="2"/>
              </a:rPr>
              <a:t>l</a:t>
            </a:r>
            <a:r>
              <a:rPr lang="en-US" altLang="en-US"/>
              <a:t> spacing from neighbor = 8 </a:t>
            </a:r>
            <a:r>
              <a:rPr lang="en-US" altLang="en-US">
                <a:latin typeface="Symbol" panose="05050102010706020507" pitchFamily="18" charset="2"/>
              </a:rPr>
              <a:t>l</a:t>
            </a:r>
            <a:r>
              <a:rPr lang="en-US" altLang="en-US"/>
              <a:t> pitch</a:t>
            </a:r>
          </a:p>
          <a:p>
            <a:pPr eaLnBrk="1" hangingPunct="1"/>
            <a:r>
              <a:rPr lang="en-US" altLang="en-US"/>
              <a:t>Transistors also consume one wiring track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pic>
        <p:nvPicPr>
          <p:cNvPr id="89094" name="Picture 4">
            <a:extLst>
              <a:ext uri="{FF2B5EF4-FFF2-40B4-BE49-F238E27FC236}">
                <a16:creationId xmlns:a16="http://schemas.microsoft.com/office/drawing/2014/main" id="{0D76EB72-811C-77DB-3EA6-1BE97A795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971800"/>
            <a:ext cx="464820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93BD685-1519-6CDA-18EB-1E247A8052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91139" name="Slide Number Placeholder 4">
            <a:extLst>
              <a:ext uri="{FF2B5EF4-FFF2-40B4-BE49-F238E27FC236}">
                <a16:creationId xmlns:a16="http://schemas.microsoft.com/office/drawing/2014/main" id="{2DDD96E3-6D1E-578B-1DD2-040F5C4A37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CAAF7B-8290-491B-AEFB-5D2799A51E33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A8EEBC6F-9AE2-0287-0671-910030D72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Well spacing</a:t>
            </a:r>
          </a:p>
        </p:txBody>
      </p:sp>
      <p:sp>
        <p:nvSpPr>
          <p:cNvPr id="91141" name="Rectangle 3">
            <a:extLst>
              <a:ext uri="{FF2B5EF4-FFF2-40B4-BE49-F238E27FC236}">
                <a16:creationId xmlns:a16="http://schemas.microsoft.com/office/drawing/2014/main" id="{2D78E44D-A019-10D0-2900-055B07F20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Wells must surround transistors by 6 </a:t>
            </a:r>
            <a:r>
              <a:rPr lang="en-US" altLang="en-US">
                <a:latin typeface="Symbol" panose="05050102010706020507" pitchFamily="18" charset="2"/>
              </a:rPr>
              <a:t>l</a:t>
            </a:r>
          </a:p>
          <a:p>
            <a:pPr lvl="1" eaLnBrk="1" hangingPunct="1"/>
            <a:r>
              <a:rPr lang="en-US" altLang="en-US"/>
              <a:t>Implies 12 </a:t>
            </a:r>
            <a:r>
              <a:rPr lang="en-US" altLang="en-US">
                <a:latin typeface="Symbol" panose="05050102010706020507" pitchFamily="18" charset="2"/>
              </a:rPr>
              <a:t>l</a:t>
            </a:r>
            <a:r>
              <a:rPr lang="en-US" altLang="en-US"/>
              <a:t> between opposite transistor flavors</a:t>
            </a:r>
          </a:p>
          <a:p>
            <a:pPr lvl="1" eaLnBrk="1" hangingPunct="1"/>
            <a:r>
              <a:rPr lang="en-US" altLang="en-US"/>
              <a:t>Leaves room for one wire track</a:t>
            </a:r>
          </a:p>
        </p:txBody>
      </p:sp>
      <p:pic>
        <p:nvPicPr>
          <p:cNvPr id="91142" name="Picture 4">
            <a:extLst>
              <a:ext uri="{FF2B5EF4-FFF2-40B4-BE49-F238E27FC236}">
                <a16:creationId xmlns:a16="http://schemas.microsoft.com/office/drawing/2014/main" id="{1FCFE2AF-4DEA-A02F-C7F1-E2348C23C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819400"/>
            <a:ext cx="4724400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C31AA5C-F9E1-06D0-D8AF-0EE9E1F852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93187" name="Slide Number Placeholder 5">
            <a:extLst>
              <a:ext uri="{FF2B5EF4-FFF2-40B4-BE49-F238E27FC236}">
                <a16:creationId xmlns:a16="http://schemas.microsoft.com/office/drawing/2014/main" id="{AE0D8707-1A3E-253D-C95D-C46B530BA4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40DC26-3672-44DA-B76B-FD16D7A6AA83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graphicFrame>
        <p:nvGraphicFramePr>
          <p:cNvPr id="93188" name="Object 7">
            <a:extLst>
              <a:ext uri="{FF2B5EF4-FFF2-40B4-BE49-F238E27FC236}">
                <a16:creationId xmlns:a16="http://schemas.microsoft.com/office/drawing/2014/main" id="{A2728252-CB67-018A-6222-8E145B9A892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209800" y="2438400"/>
          <a:ext cx="352425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691517" imgH="2733758" progId="Visio.Drawing.11">
                  <p:embed/>
                </p:oleObj>
              </mc:Choice>
              <mc:Fallback>
                <p:oleObj name="Visio" r:id="rId3" imgW="2691517" imgH="2733758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38400"/>
                        <a:ext cx="352425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1" name="Rectangle 9">
            <a:extLst>
              <a:ext uri="{FF2B5EF4-FFF2-40B4-BE49-F238E27FC236}">
                <a16:creationId xmlns:a16="http://schemas.microsoft.com/office/drawing/2014/main" id="{4D452074-4938-ED2A-8838-69EFD06C1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14600"/>
            <a:ext cx="3962400" cy="3429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90" name="Rectangle 2">
            <a:extLst>
              <a:ext uri="{FF2B5EF4-FFF2-40B4-BE49-F238E27FC236}">
                <a16:creationId xmlns:a16="http://schemas.microsoft.com/office/drawing/2014/main" id="{2227C442-2513-73CB-846D-6EF298A70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Area Estimation</a:t>
            </a:r>
          </a:p>
        </p:txBody>
      </p:sp>
      <p:sp>
        <p:nvSpPr>
          <p:cNvPr id="93191" name="Rectangle 3">
            <a:extLst>
              <a:ext uri="{FF2B5EF4-FFF2-40B4-BE49-F238E27FC236}">
                <a16:creationId xmlns:a16="http://schemas.microsoft.com/office/drawing/2014/main" id="{526447FE-1A4D-7376-8A58-BC4A97B044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5715000" cy="4572000"/>
          </a:xfrm>
        </p:spPr>
        <p:txBody>
          <a:bodyPr/>
          <a:lstStyle/>
          <a:p>
            <a:pPr eaLnBrk="1" hangingPunct="1"/>
            <a:r>
              <a:rPr lang="en-US" altLang="en-US" sz="2000"/>
              <a:t>Estimate area by counting wiring tracks</a:t>
            </a:r>
          </a:p>
          <a:p>
            <a:pPr lvl="1" eaLnBrk="1" hangingPunct="1"/>
            <a:r>
              <a:rPr lang="en-US" altLang="en-US" sz="2000"/>
              <a:t>Multiply by 8 to express in </a:t>
            </a:r>
            <a:r>
              <a:rPr lang="en-US" altLang="en-US" sz="20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93192" name="Rectangle 6">
            <a:extLst>
              <a:ext uri="{FF2B5EF4-FFF2-40B4-BE49-F238E27FC236}">
                <a16:creationId xmlns:a16="http://schemas.microsoft.com/office/drawing/2014/main" id="{E94AE3BD-BAA4-D58A-3066-589757CDE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62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3193" name="Object 5">
            <a:extLst>
              <a:ext uri="{FF2B5EF4-FFF2-40B4-BE49-F238E27FC236}">
                <a16:creationId xmlns:a16="http://schemas.microsoft.com/office/drawing/2014/main" id="{56D36C9E-2BF9-44C0-5C91-817643DFD3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438400"/>
          <a:ext cx="3532188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691517" imgH="2733758" progId="Visio.Drawing.11">
                  <p:embed/>
                </p:oleObj>
              </mc:Choice>
              <mc:Fallback>
                <p:oleObj name="Visio" r:id="rId5" imgW="2691517" imgH="273375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38400"/>
                        <a:ext cx="3532188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63BF6C5-9816-F493-E86F-A0E1B2F60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1: Circuits &amp; Layout</a:t>
            </a:r>
          </a:p>
        </p:txBody>
      </p:sp>
      <p:sp>
        <p:nvSpPr>
          <p:cNvPr id="95235" name="Slide Number Placeholder 5">
            <a:extLst>
              <a:ext uri="{FF2B5EF4-FFF2-40B4-BE49-F238E27FC236}">
                <a16:creationId xmlns:a16="http://schemas.microsoft.com/office/drawing/2014/main" id="{A1E54BB0-AC12-9FE9-825B-3AAFA4B9D1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E635FE-E20F-4A41-A32B-C4CADE53C705}" type="slidenum">
              <a:rPr lang="en-US" altLang="en-US" sz="140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rgbClr val="0000FF"/>
              </a:solidFill>
            </a:endParaRPr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61FBD477-706F-94AB-A51D-45D06B439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O3AI</a:t>
            </a:r>
          </a:p>
        </p:txBody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0313F54C-EADA-3755-CF7A-CE8C7C7AA4F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6934200" cy="4572000"/>
          </a:xfrm>
        </p:spPr>
        <p:txBody>
          <a:bodyPr/>
          <a:lstStyle/>
          <a:p>
            <a:pPr eaLnBrk="1" hangingPunct="1"/>
            <a:r>
              <a:rPr lang="en-US" altLang="en-US" sz="2000"/>
              <a:t>Sketch a stick diagram for O3AI and estimate area</a:t>
            </a:r>
          </a:p>
          <a:p>
            <a:pPr lvl="1" eaLnBrk="1" hangingPunct="1"/>
            <a:r>
              <a:rPr lang="en-US" altLang="en-US" sz="2000"/>
              <a:t> </a:t>
            </a:r>
          </a:p>
        </p:txBody>
      </p:sp>
      <p:graphicFrame>
        <p:nvGraphicFramePr>
          <p:cNvPr id="95238" name="Object 4">
            <a:extLst>
              <a:ext uri="{FF2B5EF4-FFF2-40B4-BE49-F238E27FC236}">
                <a16:creationId xmlns:a16="http://schemas.microsoft.com/office/drawing/2014/main" id="{12B036A3-B15E-DEBF-7EBE-8B6E381E0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905000"/>
          <a:ext cx="26003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170" imgH="241195" progId="Equation.DSMT4">
                  <p:embed/>
                </p:oleObj>
              </mc:Choice>
              <mc:Fallback>
                <p:oleObj name="Equation" r:id="rId3" imgW="990170" imgH="24119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05000"/>
                        <a:ext cx="26003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9" name="Rectangle 8">
            <a:extLst>
              <a:ext uri="{FF2B5EF4-FFF2-40B4-BE49-F238E27FC236}">
                <a16:creationId xmlns:a16="http://schemas.microsoft.com/office/drawing/2014/main" id="{58D373E0-5D95-DCB0-95A0-FD94EB1E3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67943" name="Object 7">
            <a:extLst>
              <a:ext uri="{FF2B5EF4-FFF2-40B4-BE49-F238E27FC236}">
                <a16:creationId xmlns:a16="http://schemas.microsoft.com/office/drawing/2014/main" id="{6C7EECF5-804E-7282-F75B-CBE6CAA1C3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514600"/>
          <a:ext cx="4876800" cy="350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857873" imgH="2772023" progId="Visio.Drawing.11">
                  <p:embed/>
                </p:oleObj>
              </mc:Choice>
              <mc:Fallback>
                <p:oleObj name="Visio" r:id="rId5" imgW="3857873" imgH="27720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14600"/>
                        <a:ext cx="4876800" cy="350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5" name="Rectangle 9">
            <a:extLst>
              <a:ext uri="{FF2B5EF4-FFF2-40B4-BE49-F238E27FC236}">
                <a16:creationId xmlns:a16="http://schemas.microsoft.com/office/drawing/2014/main" id="{8865B4CA-F7CC-9E17-D30B-A87B1E60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1447800" cy="3429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7946" name="Rectangle 10">
            <a:extLst>
              <a:ext uri="{FF2B5EF4-FFF2-40B4-BE49-F238E27FC236}">
                <a16:creationId xmlns:a16="http://schemas.microsoft.com/office/drawing/2014/main" id="{39185105-8821-42FA-C666-A2843B631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334000"/>
            <a:ext cx="3429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5" grpId="0" animBg="1"/>
      <p:bldP spid="167946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33502</TotalTime>
  <Words>1496</Words>
  <Application>Microsoft Office PowerPoint</Application>
  <PresentationFormat>On-screen Show (4:3)</PresentationFormat>
  <Paragraphs>421</Paragraphs>
  <Slides>48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</vt:lpstr>
      <vt:lpstr>Arial Black</vt:lpstr>
      <vt:lpstr>Symbol</vt:lpstr>
      <vt:lpstr>Times New Roman</vt:lpstr>
      <vt:lpstr>Verdana</vt:lpstr>
      <vt:lpstr>Wingdings</vt:lpstr>
      <vt:lpstr>Default Design</vt:lpstr>
      <vt:lpstr>VISIO</vt:lpstr>
      <vt:lpstr>Visio.Drawing.6</vt:lpstr>
      <vt:lpstr>Equation</vt:lpstr>
      <vt:lpstr>Visio</vt:lpstr>
      <vt:lpstr>Lecture 1:  Circuits &amp; Layout</vt:lpstr>
      <vt:lpstr>Outline</vt:lpstr>
      <vt:lpstr>A Brief History</vt:lpstr>
      <vt:lpstr>Growth Rate</vt:lpstr>
      <vt:lpstr>Annual Sales</vt:lpstr>
      <vt:lpstr>Invention of the Transistor</vt:lpstr>
      <vt:lpstr>Transistor Types</vt:lpstr>
      <vt:lpstr>PowerPoint Presentation</vt:lpstr>
      <vt:lpstr>MOS Integrated Circuits</vt:lpstr>
      <vt:lpstr>Moore’s Law: Then</vt:lpstr>
      <vt:lpstr>And Now…</vt:lpstr>
      <vt:lpstr>Feature Size</vt:lpstr>
      <vt:lpstr>Corollaries</vt:lpstr>
      <vt:lpstr>CMOS Gate Design</vt:lpstr>
      <vt:lpstr>Complementary CMOS</vt:lpstr>
      <vt:lpstr>Series and Parallel</vt:lpstr>
      <vt:lpstr>Conduction Complement</vt:lpstr>
      <vt:lpstr>Compound Gates</vt:lpstr>
      <vt:lpstr>Example: O3AI </vt:lpstr>
      <vt:lpstr>Signal Strength</vt:lpstr>
      <vt:lpstr>Pass Transistors</vt:lpstr>
      <vt:lpstr>Transmission Gates</vt:lpstr>
      <vt:lpstr>Tristates</vt:lpstr>
      <vt:lpstr>Nonrestoring Tristate</vt:lpstr>
      <vt:lpstr>Tristate Inverter</vt:lpstr>
      <vt:lpstr>HET</vt:lpstr>
      <vt:lpstr>BÀI TẬP</vt:lpstr>
      <vt:lpstr>Multiplexers</vt:lpstr>
      <vt:lpstr>Gate-Level Mux Design</vt:lpstr>
      <vt:lpstr>Transmission Gate Mux</vt:lpstr>
      <vt:lpstr>Inverting Mux</vt:lpstr>
      <vt:lpstr>4:1 Multiplexer</vt:lpstr>
      <vt:lpstr>D Latch</vt:lpstr>
      <vt:lpstr>D Latch Design</vt:lpstr>
      <vt:lpstr>D Latch Operation</vt:lpstr>
      <vt:lpstr>D Flip-flop</vt:lpstr>
      <vt:lpstr>D Flip-flop Design</vt:lpstr>
      <vt:lpstr>D Flip-flop Operation</vt:lpstr>
      <vt:lpstr>Race Condition</vt:lpstr>
      <vt:lpstr>Nonoverlapping Clocks</vt:lpstr>
      <vt:lpstr>Gate Layout</vt:lpstr>
      <vt:lpstr>Example: Inverter</vt:lpstr>
      <vt:lpstr>Example: NAND3</vt:lpstr>
      <vt:lpstr>Stick Diagrams</vt:lpstr>
      <vt:lpstr>Wiring Tracks</vt:lpstr>
      <vt:lpstr>Well spacing</vt:lpstr>
      <vt:lpstr>Area Estimation</vt:lpstr>
      <vt:lpstr>Example: O3AI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Harris</dc:creator>
  <cp:lastModifiedBy>Ngô Hiếu Trường</cp:lastModifiedBy>
  <cp:revision>419</cp:revision>
  <dcterms:created xsi:type="dcterms:W3CDTF">2003-12-29T03:13:39Z</dcterms:created>
  <dcterms:modified xsi:type="dcterms:W3CDTF">2024-03-25T08:37:32Z</dcterms:modified>
</cp:coreProperties>
</file>